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64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Destrucción de la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Silvestre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4E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Coacalco de Berriozábal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86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4E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Cibernografía | Ciencias Naturales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del equipo: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4E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Valentina Mendoza  •  Maurio Cuenca  •  Brenda del Toro  •  Cristofer Velázquez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1,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B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Estado de México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TERRITORIAL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Coacalco de Berriozábal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Ubicado en el Estado de México, forma parte de la zona conurbada del Valle de México — una de las áreas urbanas más densamente pobladas del país.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templado subhúmedo con lluvias en verano. Alta densidad poblacional en territorio reducido.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expansión urbana, el municipio formaba parte de ecosistemas de pastizales, matorrales y vegetación xerófila, vinculado al sistema lacustre del antiguo Lago de Texcoco.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4297680"/>
            <a:ext cx="146304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297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 pero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densamente poblada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74520" y="4297680"/>
            <a:ext cx="146304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4297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original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Pastizales 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matorrales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4297680"/>
            <a:ext cx="146304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4297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principal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Urbanización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descontrolada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0" y="777240"/>
            <a:ext cx="3566160" cy="2286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0" y="3090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de Guadalupe — último refugio natural en Coacalco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474720"/>
            <a:ext cx="1143000" cy="914400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474720"/>
            <a:ext cx="1143000" cy="914400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3474720"/>
            <a:ext cx="11430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DE LA DESTRUCCIÓN AMBIENTAL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828800"/>
          </a:xfrm>
          <a:prstGeom prst="rect">
            <a:avLst/>
          </a:prstGeom>
          <a:solidFill>
            <a:srgbClr val="F4F7F4"/>
          </a:solidFill>
          <a:ln w="12700">
            <a:solidFill>
              <a:srgbClr val="D0E8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64008" cy="1828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Urbanización Acelerada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finales del siglo XX, grandes unidades habitacionales y zonas comerciales sin planificación adecuada han saturado servicios y eliminado suelo natural.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828800"/>
          </a:xfrm>
          <a:prstGeom prst="rect">
            <a:avLst/>
          </a:prstGeom>
          <a:solidFill>
            <a:srgbClr val="F4F7F4"/>
          </a:solidFill>
          <a:ln w="12700">
            <a:solidFill>
              <a:srgbClr val="D0E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822960"/>
            <a:ext cx="64008" cy="1828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14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Hábitat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masiva de ecosistemas. Fragmentación de la Sierra de Guadalupe por carreteras y desarrollos. Las especies quedan atrapadas en 'islas' de vegetación.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834640"/>
            <a:ext cx="4206240" cy="1828800"/>
          </a:xfrm>
          <a:prstGeom prst="rect">
            <a:avLst/>
          </a:prstGeom>
          <a:solidFill>
            <a:srgbClr val="F4F7F4"/>
          </a:solidFill>
          <a:ln w="12700">
            <a:solidFill>
              <a:srgbClr val="D0E8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834640"/>
            <a:ext cx="64008" cy="18288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26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Contaminación Multisistémica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703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156 puntos IMECA. Tiraderos clandestinos en barrancas, aguas residuales y contaminación hídrica severa que eliminan corredores biológicos.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206240" cy="1828800"/>
          </a:xfrm>
          <a:prstGeom prst="rect">
            <a:avLst/>
          </a:prstGeom>
          <a:solidFill>
            <a:srgbClr val="F4F7F4"/>
          </a:solidFill>
          <a:ln w="12700">
            <a:solidFill>
              <a:srgbClr val="D0E8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834640"/>
            <a:ext cx="64008" cy="1828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26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9204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Especies Invasoras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703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Reforestación con pino, cedro, casuarina y eucalipto desplaza al encino nativo. Estos árboles no proveen alimento ni refugio para la fauna local.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CONABIO · CONANP · Monografía Oficial del Ayuntamiento de Coacalco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FAUNA EXTIRPADA Y AMENAZADA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E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Coacalco, la destrucción de la vida silvestre no es una amenaza futura — es un hecho consumado para la mayoría de las especies.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280160"/>
            <a:ext cx="256032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280160"/>
            <a:ext cx="182880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280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Coacalco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182880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280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256032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645920"/>
            <a:ext cx="2560320" cy="530352"/>
          </a:xfrm>
          <a:prstGeom prst="rect">
            <a:avLst/>
          </a:prstGeom>
          <a:solidFill>
            <a:srgbClr val="1E2D1E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" y="16459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Ajolote (Ambystoma mexicanum)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1645920"/>
            <a:ext cx="1828800" cy="530352"/>
          </a:xfrm>
          <a:prstGeom prst="rect">
            <a:avLst/>
          </a:prstGeom>
          <a:solidFill>
            <a:srgbClr val="1E2D1E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16459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Extirpado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645920"/>
            <a:ext cx="1828800" cy="530352"/>
          </a:xfrm>
          <a:prstGeom prst="rect">
            <a:avLst/>
          </a:prstGeom>
          <a:solidFill>
            <a:srgbClr val="1E2D1E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16459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Desaparición de cuerpos de agua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645920"/>
            <a:ext cx="2560320" cy="530352"/>
          </a:xfrm>
          <a:prstGeom prst="rect">
            <a:avLst/>
          </a:prstGeom>
          <a:solidFill>
            <a:srgbClr val="1E2D1E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16459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Históricamente en Valle de México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212848"/>
            <a:ext cx="2560320" cy="530352"/>
          </a:xfrm>
          <a:prstGeom prst="rect">
            <a:avLst/>
          </a:prstGeom>
          <a:solidFill>
            <a:srgbClr val="252E25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221284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Venado cola blanca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2212848"/>
            <a:ext cx="1828800" cy="530352"/>
          </a:xfrm>
          <a:prstGeom prst="rect">
            <a:avLst/>
          </a:prstGeom>
          <a:solidFill>
            <a:srgbClr val="252E25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22128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Extirpado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212848"/>
            <a:ext cx="1828800" cy="530352"/>
          </a:xfrm>
          <a:prstGeom prst="rect">
            <a:avLst/>
          </a:prstGeom>
          <a:solidFill>
            <a:srgbClr val="252E25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22128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total de hábitat, cacería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2212848"/>
            <a:ext cx="2560320" cy="530352"/>
          </a:xfrm>
          <a:prstGeom prst="rect">
            <a:avLst/>
          </a:prstGeom>
          <a:solidFill>
            <a:srgbClr val="252E25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221284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retornará sin restauración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2779776"/>
            <a:ext cx="2560320" cy="530352"/>
          </a:xfrm>
          <a:prstGeom prst="rect">
            <a:avLst/>
          </a:prstGeom>
          <a:solidFill>
            <a:srgbClr val="1E2D1E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" y="277977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Coyote / Zorra gris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0" y="2779776"/>
            <a:ext cx="1828800" cy="530352"/>
          </a:xfrm>
          <a:prstGeom prst="rect">
            <a:avLst/>
          </a:prstGeom>
          <a:solidFill>
            <a:srgbClr val="1E2D1E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07208" y="27797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Extirpados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2779776"/>
            <a:ext cx="1828800" cy="530352"/>
          </a:xfrm>
          <a:prstGeom prst="rect">
            <a:avLst/>
          </a:prstGeom>
          <a:solidFill>
            <a:srgbClr val="1E2D1E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6008" y="27797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Fragmentación urbana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2779776"/>
            <a:ext cx="2560320" cy="530352"/>
          </a:xfrm>
          <a:prstGeom prst="rect">
            <a:avLst/>
          </a:prstGeom>
          <a:solidFill>
            <a:srgbClr val="1E2D1E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277977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Perseguidos y desplazados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" y="3346704"/>
            <a:ext cx="2560320" cy="530352"/>
          </a:xfrm>
          <a:prstGeom prst="rect">
            <a:avLst/>
          </a:prstGeom>
          <a:solidFill>
            <a:srgbClr val="252E25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" y="334670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Aves migratorias (patos, garzas)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0" y="3346704"/>
            <a:ext cx="1828800" cy="530352"/>
          </a:xfrm>
          <a:prstGeom prst="rect">
            <a:avLst/>
          </a:prstGeom>
          <a:solidFill>
            <a:srgbClr val="252E25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07208" y="33467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Desaparecidas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346704"/>
            <a:ext cx="1828800" cy="530352"/>
          </a:xfrm>
          <a:prstGeom prst="rect">
            <a:avLst/>
          </a:prstGeom>
          <a:solidFill>
            <a:srgbClr val="252E25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36008" y="33467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Desecación Lago de Xaltocan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3346704"/>
            <a:ext cx="2560320" cy="530352"/>
          </a:xfrm>
          <a:prstGeom prst="rect">
            <a:avLst/>
          </a:prstGeom>
          <a:solidFill>
            <a:srgbClr val="252E25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64808" y="334670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 completamente desaparecido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" y="3913632"/>
            <a:ext cx="2560320" cy="530352"/>
          </a:xfrm>
          <a:prstGeom prst="rect">
            <a:avLst/>
          </a:prstGeom>
          <a:solidFill>
            <a:srgbClr val="1E2D1E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6888" y="391363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Cacomixtle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0" y="3913632"/>
            <a:ext cx="1828800" cy="530352"/>
          </a:xfrm>
          <a:prstGeom prst="rect">
            <a:avLst/>
          </a:prstGeom>
          <a:solidFill>
            <a:srgbClr val="1E2D1E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07208" y="39136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peligro crítico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3913632"/>
            <a:ext cx="1828800" cy="530352"/>
          </a:xfrm>
          <a:prstGeom prst="rect">
            <a:avLst/>
          </a:prstGeom>
          <a:solidFill>
            <a:srgbClr val="1E2D1E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36008" y="39136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Fragmentación Sierra Guadalupe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0" y="3913632"/>
            <a:ext cx="2560320" cy="530352"/>
          </a:xfrm>
          <a:prstGeom prst="rect">
            <a:avLst/>
          </a:prstGeom>
          <a:solidFill>
            <a:srgbClr val="1E2D1E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64808" y="391363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Emblema ambiental municipal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SIERRA DE GUADALUPE: ÚLTIMO REFUGIO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1148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777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7,326 hectáreas protegidas desde 1976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0" y="12801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natural protegida de jurisdicción estatal que abarca partes de Coacalco, Tlalnepantla, Ecatepec y Tultitlán.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0" y="2011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Accesos en Coacalco: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0" y="233172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Xolo (Col. Ejidal)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(Col. República Mexicana)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Díaz (Fracc. Lomas de Coacalco)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Ecoturismo y Ed. Ambiental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3474720"/>
            <a:ext cx="4297680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35204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Problema: Severa fragmentación urbana. Se introdujeron especies foráneas (pino, cedro, eucalipto) que desplazan al encino nativo y destruyen el hábitat de fauna especializada.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2880" y="37490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del Ayuntamiento: vivero municipal, campañas de reforestación (+2,000 árboles nativos en 2025), Dirección de Medio Ambiente.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Monografía Oficial Coacalco · Milenio.com · Wikipedia Sierra de Guadalupe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ENCUESTA COMUNITARIA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ciudadana sobre la vida silvestre en Coacalco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51560"/>
            <a:ext cx="4206240" cy="19202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51560"/>
            <a:ext cx="4206240" cy="19202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017520"/>
            <a:ext cx="4206240" cy="192024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017520"/>
            <a:ext cx="4206240" cy="19202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82880" y="10241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 notado cambios en la vida silvestre?</a:t>
            </a:r>
            <a:endParaRPr lang="en-US" sz="800" dirty="0"/>
          </a:p>
        </p:txBody>
      </p:sp>
      <p:sp>
        <p:nvSpPr>
          <p:cNvPr id="10" name="Text 4"/>
          <p:cNvSpPr/>
          <p:nvPr/>
        </p:nvSpPr>
        <p:spPr>
          <a:xfrm>
            <a:off x="4663440" y="10241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 visto animales silvestres recientemente?</a:t>
            </a:r>
            <a:endParaRPr lang="en-US" sz="800" dirty="0"/>
          </a:p>
        </p:txBody>
      </p:sp>
      <p:sp>
        <p:nvSpPr>
          <p:cNvPr id="11" name="Text 5"/>
          <p:cNvSpPr/>
          <p:nvPr/>
        </p:nvSpPr>
        <p:spPr>
          <a:xfrm>
            <a:off x="182880" y="29900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¿Consideras que la vida silvestre está en riesgo?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4663440" y="29900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informado estás sobre este tema?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7432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30352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Coacalco es un caso severo de extirpación local masiva en el Valle de México, donde la mayoría de las especies nativas han desaparecido completamente.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530352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supervivencia de fauna como el cacomixtle depende exclusivamente de los remanentes de la Sierra de Guadalupe, bajo presión constante.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530352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de especies extirpadas como el ajolote o las aves acuáticas parece improbable sin restauración integral de ecosistemas acuáticos históricos.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530352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490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acciones municipales (vivero, reforestación con nativos) son pasos positivos, pero insuficientes ante la magnitud del daño acumulado.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731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Valentina Mendoza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143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Maurio Cuenca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 del Toro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Cristofer Velázquez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1, 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A1A"/>
          </a:solidFill>
          <a:ln w="12700">
            <a:solidFill>
              <a:srgbClr val="0D2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E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Coacalco de Berriozábal, Estado de México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671</Words>
  <Application>Microsoft Office PowerPoint</Application>
  <PresentationFormat>Presentación en pantalla (16:9)</PresentationFormat>
  <Paragraphs>101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Destrucción de la Vida Silvestre en Coacalco</dc:title>
  <dc:subject>PptxGenJS Presentation</dc:subject>
  <dc:creator>PptxGenJS</dc:creator>
  <cp:lastModifiedBy>PC-16</cp:lastModifiedBy>
  <cp:revision>1</cp:revision>
  <dcterms:created xsi:type="dcterms:W3CDTF">2026-04-24T21:07:59Z</dcterms:created>
  <dcterms:modified xsi:type="dcterms:W3CDTF">2026-04-24T21:16:14Z</dcterms:modified>
</cp:coreProperties>
</file>