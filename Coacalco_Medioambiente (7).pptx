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4" r:id="rId8"/>
    <p:sldId id="262" r:id="rId9"/>
    <p:sldId id="263"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624"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88825"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6675" y="2404534"/>
            <a:ext cx="7764913" cy="1646302"/>
          </a:xfrm>
        </p:spPr>
        <p:txBody>
          <a:bodyPr anchor="b">
            <a:noAutofit/>
          </a:bodyPr>
          <a:lstStyle>
            <a:lvl1pPr algn="r">
              <a:defRPr sz="5398">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6675" y="4050834"/>
            <a:ext cx="7764913" cy="1096899"/>
          </a:xfrm>
        </p:spPr>
        <p:txBody>
          <a:bodyPr anchor="t"/>
          <a:lstStyle>
            <a:lvl1pPr marL="0" indent="0" algn="r">
              <a:buNone/>
              <a:defRPr>
                <a:solidFill>
                  <a:schemeClr val="tx1">
                    <a:lumMod val="50000"/>
                    <a:lumOff val="50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53310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599"/>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76730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159" y="2700868"/>
            <a:ext cx="8594429" cy="1826581"/>
          </a:xfrm>
        </p:spPr>
        <p:txBody>
          <a:bodyPr anchor="b"/>
          <a:lstStyle>
            <a:lvl1pPr algn="l">
              <a:defRPr sz="3999"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159" y="4527448"/>
            <a:ext cx="8594429" cy="860400"/>
          </a:xfrm>
        </p:spPr>
        <p:txBody>
          <a:bodyPr anchor="t"/>
          <a:lstStyle>
            <a:lvl1pPr marL="0" indent="0" algn="l">
              <a:buNone/>
              <a:defRPr sz="1999">
                <a:solidFill>
                  <a:schemeClr val="tx1">
                    <a:lumMod val="50000"/>
                    <a:lumOff val="5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5734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158" y="2160589"/>
            <a:ext cx="418294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8645" y="2160590"/>
            <a:ext cx="418294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11051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570" y="2160983"/>
            <a:ext cx="4184533"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570" y="2737246"/>
            <a:ext cx="418453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7058" y="2160983"/>
            <a:ext cx="4184528"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7059" y="2737246"/>
            <a:ext cx="418452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177046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158" y="609600"/>
            <a:ext cx="8594429"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922867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447606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158" y="1498604"/>
            <a:ext cx="3853524" cy="1278466"/>
          </a:xfrm>
        </p:spPr>
        <p:txBody>
          <a:bodyPr anchor="b">
            <a:normAutofit/>
          </a:bodyPr>
          <a:lstStyle>
            <a:lvl1pPr>
              <a:defRPr sz="1999"/>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59222" y="514925"/>
            <a:ext cx="4512366"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158" y="2777069"/>
            <a:ext cx="3853524" cy="2584449"/>
          </a:xfrm>
        </p:spPr>
        <p:txBody>
          <a:bodyPr>
            <a:normAutofit/>
          </a:bodyPr>
          <a:lstStyle>
            <a:lvl1pPr marL="0" indent="0">
              <a:buNone/>
              <a:defRPr sz="1400"/>
            </a:lvl1pPr>
            <a:lvl2pPr marL="456926" indent="0">
              <a:buNone/>
              <a:defRPr sz="1400"/>
            </a:lvl2pPr>
            <a:lvl3pPr marL="913852" indent="0">
              <a:buNone/>
              <a:defRPr sz="1200"/>
            </a:lvl3pPr>
            <a:lvl4pPr marL="1370778" indent="0">
              <a:buNone/>
              <a:defRPr sz="1000"/>
            </a:lvl4pPr>
            <a:lvl5pPr marL="1827703" indent="0">
              <a:buNone/>
              <a:defRPr sz="1000"/>
            </a:lvl5pPr>
            <a:lvl6pPr marL="2284628" indent="0">
              <a:buNone/>
              <a:defRPr sz="1000"/>
            </a:lvl6pPr>
            <a:lvl7pPr marL="2741554" indent="0">
              <a:buNone/>
              <a:defRPr sz="1000"/>
            </a:lvl7pPr>
            <a:lvl8pPr marL="3198480" indent="0">
              <a:buNone/>
              <a:defRPr sz="1000"/>
            </a:lvl8pPr>
            <a:lvl9pPr marL="3655406"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63250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158" y="4800600"/>
            <a:ext cx="8594428" cy="566738"/>
          </a:xfrm>
        </p:spPr>
        <p:txBody>
          <a:bodyPr anchor="b">
            <a:normAutofit/>
          </a:bodyPr>
          <a:lstStyle>
            <a:lvl1pPr algn="l">
              <a:defRPr sz="2399"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158" y="609600"/>
            <a:ext cx="8594429" cy="3845718"/>
          </a:xfrm>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158" y="5367338"/>
            <a:ext cx="8594428" cy="674024"/>
          </a:xfrm>
        </p:spPr>
        <p:txBody>
          <a:bodyPr>
            <a:normAutofit/>
          </a:bodyPr>
          <a:lstStyle>
            <a:lvl1pPr marL="0" indent="0">
              <a:buNone/>
              <a:defRPr sz="12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769267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159" y="609600"/>
            <a:ext cx="8594429" cy="3403600"/>
          </a:xfrm>
        </p:spPr>
        <p:txBody>
          <a:bodyPr anchor="ctr">
            <a:normAutofit/>
          </a:bodyPr>
          <a:lstStyle>
            <a:lvl1pPr algn="l">
              <a:defRPr sz="4399"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159" y="4470400"/>
            <a:ext cx="8594429" cy="1570962"/>
          </a:xfrm>
        </p:spPr>
        <p:txBody>
          <a:bodyPr anchor="ctr">
            <a:normAutofit/>
          </a:bodyPr>
          <a:lstStyle>
            <a:lvl1pPr marL="0" indent="0" algn="l">
              <a:buNone/>
              <a:defRPr sz="1799">
                <a:solidFill>
                  <a:schemeClr val="tx1">
                    <a:lumMod val="75000"/>
                    <a:lumOff val="2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557106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092" y="609600"/>
            <a:ext cx="8092026" cy="3022600"/>
          </a:xfrm>
        </p:spPr>
        <p:txBody>
          <a:bodyPr anchor="ctr">
            <a:normAutofit/>
          </a:bodyPr>
          <a:lstStyle>
            <a:lvl1pPr algn="l">
              <a:defRPr sz="4399"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5783" y="3632200"/>
            <a:ext cx="7222643" cy="381000"/>
          </a:xfrm>
        </p:spPr>
        <p:txBody>
          <a:bodyPr anchor="ctr">
            <a:noAutofit/>
          </a:bodyPr>
          <a:lstStyle>
            <a:lvl1pPr marL="0" indent="0">
              <a:buFontTx/>
              <a:buNone/>
              <a:defRPr sz="1600">
                <a:solidFill>
                  <a:schemeClr val="tx1">
                    <a:lumMod val="50000"/>
                    <a:lumOff val="50000"/>
                  </a:schemeClr>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159" y="4470400"/>
            <a:ext cx="8594429" cy="1570962"/>
          </a:xfrm>
        </p:spPr>
        <p:txBody>
          <a:bodyPr anchor="ctr">
            <a:normAutofit/>
          </a:bodyPr>
          <a:lstStyle>
            <a:lvl1pPr marL="0" indent="0" algn="l">
              <a:buNone/>
              <a:defRPr sz="1799">
                <a:solidFill>
                  <a:schemeClr val="tx1">
                    <a:lumMod val="75000"/>
                    <a:lumOff val="2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0" name="TextBox 19"/>
          <p:cNvSpPr txBox="1"/>
          <p:nvPr/>
        </p:nvSpPr>
        <p:spPr>
          <a:xfrm>
            <a:off x="541729" y="790378"/>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0695" y="288655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latin typeface="Arial"/>
              </a:rPr>
              <a:t>”</a:t>
            </a:r>
            <a:endParaRPr lang="en-US" sz="1799" dirty="0">
              <a:solidFill>
                <a:schemeClr val="accent1">
                  <a:lumMod val="60000"/>
                  <a:lumOff val="40000"/>
                </a:schemeClr>
              </a:solidFill>
              <a:latin typeface="Arial"/>
            </a:endParaRPr>
          </a:p>
        </p:txBody>
      </p:sp>
    </p:spTree>
    <p:extLst>
      <p:ext uri="{BB962C8B-B14F-4D97-AF65-F5344CB8AC3E}">
        <p14:creationId xmlns:p14="http://schemas.microsoft.com/office/powerpoint/2010/main" val="2722645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159" y="1931988"/>
            <a:ext cx="8594429" cy="2595460"/>
          </a:xfrm>
        </p:spPr>
        <p:txBody>
          <a:bodyPr anchor="b">
            <a:normAutofit/>
          </a:bodyPr>
          <a:lstStyle>
            <a:lvl1pPr algn="l">
              <a:defRPr sz="4399"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799">
                <a:solidFill>
                  <a:schemeClr val="tx1">
                    <a:lumMod val="75000"/>
                    <a:lumOff val="2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5691466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092" y="609600"/>
            <a:ext cx="8092026" cy="3022600"/>
          </a:xfrm>
        </p:spPr>
        <p:txBody>
          <a:bodyPr anchor="ctr">
            <a:normAutofit/>
          </a:bodyPr>
          <a:lstStyle>
            <a:lvl1pPr algn="l">
              <a:defRPr sz="4399"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156" y="4013200"/>
            <a:ext cx="8594430" cy="514248"/>
          </a:xfrm>
        </p:spPr>
        <p:txBody>
          <a:bodyPr anchor="b">
            <a:noAutofit/>
          </a:bodyPr>
          <a:lstStyle>
            <a:lvl1pPr marL="0" indent="0">
              <a:buFontTx/>
              <a:buNone/>
              <a:defRPr sz="2399">
                <a:solidFill>
                  <a:schemeClr val="tx1">
                    <a:lumMod val="75000"/>
                    <a:lumOff val="25000"/>
                  </a:schemeClr>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799">
                <a:solidFill>
                  <a:schemeClr val="tx1">
                    <a:lumMod val="50000"/>
                    <a:lumOff val="5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541729" y="790378"/>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0695" y="288655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80221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621" y="609600"/>
            <a:ext cx="8585966" cy="3022600"/>
          </a:xfrm>
        </p:spPr>
        <p:txBody>
          <a:bodyPr anchor="ctr">
            <a:normAutofit/>
          </a:bodyPr>
          <a:lstStyle>
            <a:lvl1pPr algn="l">
              <a:defRPr sz="4399"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156" y="4013200"/>
            <a:ext cx="8594430" cy="514248"/>
          </a:xfrm>
        </p:spPr>
        <p:txBody>
          <a:bodyPr anchor="b">
            <a:noAutofit/>
          </a:bodyPr>
          <a:lstStyle>
            <a:lvl1pPr marL="0" indent="0">
              <a:buFontTx/>
              <a:buNone/>
              <a:defRPr sz="2399">
                <a:solidFill>
                  <a:schemeClr val="accent1"/>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799">
                <a:solidFill>
                  <a:schemeClr val="tx1">
                    <a:lumMod val="50000"/>
                    <a:lumOff val="5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45130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0066717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5599" y="609600"/>
            <a:ext cx="130440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159" y="609600"/>
            <a:ext cx="7058311"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90576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88825"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158" y="609600"/>
            <a:ext cx="8594429"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158" y="2160590"/>
            <a:ext cx="8594429"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3257" y="6041363"/>
            <a:ext cx="91170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4/29/2026</a:t>
            </a:fld>
            <a:endParaRPr lang="en-US"/>
          </a:p>
        </p:txBody>
      </p:sp>
      <p:sp>
        <p:nvSpPr>
          <p:cNvPr id="5" name="Footer Placeholder 4"/>
          <p:cNvSpPr>
            <a:spLocks noGrp="1"/>
          </p:cNvSpPr>
          <p:nvPr>
            <p:ph type="ftr" sz="quarter" idx="3"/>
          </p:nvPr>
        </p:nvSpPr>
        <p:spPr>
          <a:xfrm>
            <a:off x="677158" y="6041363"/>
            <a:ext cx="629597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88426" y="6041363"/>
            <a:ext cx="683161"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9118056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063" rtl="0" eaLnBrk="1" latinLnBrk="0" hangingPunct="1">
        <a:spcBef>
          <a:spcPct val="0"/>
        </a:spcBef>
        <a:buNone/>
        <a:defRPr sz="3599"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fif"/><Relationship Id="rId2" Type="http://schemas.openxmlformats.org/officeDocument/2006/relationships/image" Target="../media/image5.jf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943600" cy="6858000"/>
          </a:xfrm>
          <a:prstGeom prst="rect">
            <a:avLst/>
          </a:prstGeom>
          <a:solidFill>
            <a:srgbClr val="0A3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13.jpg"/>
          <p:cNvPicPr>
            <a:picLocks noChangeAspect="1"/>
          </p:cNvPicPr>
          <p:nvPr/>
        </p:nvPicPr>
        <p:blipFill>
          <a:blip r:embed="rId2"/>
          <a:stretch>
            <a:fillRect/>
          </a:stretch>
        </p:blipFill>
        <p:spPr>
          <a:xfrm>
            <a:off x="5943600" y="0"/>
            <a:ext cx="6245352" cy="6858000"/>
          </a:xfrm>
          <a:prstGeom prst="rect">
            <a:avLst/>
          </a:prstGeom>
        </p:spPr>
      </p:pic>
      <p:sp>
        <p:nvSpPr>
          <p:cNvPr id="5" name="Rectangle 4"/>
          <p:cNvSpPr/>
          <p:nvPr/>
        </p:nvSpPr>
        <p:spPr>
          <a:xfrm>
            <a:off x="5943600" y="0"/>
            <a:ext cx="6245352"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011680"/>
            <a:ext cx="109728" cy="2834640"/>
          </a:xfrm>
          <a:prstGeom prst="rect">
            <a:avLst/>
          </a:prstGeom>
          <a:solidFill>
            <a:srgbClr val="81C7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920240"/>
            <a:ext cx="5029200" cy="640080"/>
          </a:xfrm>
          <a:prstGeom prst="rect">
            <a:avLst/>
          </a:prstGeom>
          <a:noFill/>
        </p:spPr>
        <p:txBody>
          <a:bodyPr wrap="square">
            <a:spAutoFit/>
          </a:bodyPr>
          <a:lstStyle/>
          <a:p>
            <a:pPr algn="l"/>
            <a:r>
              <a:rPr sz="1400" b="1" i="0">
                <a:solidFill>
                  <a:srgbClr val="81C784"/>
                </a:solidFill>
              </a:rPr>
              <a:t>MEDIO AMBIENTE</a:t>
            </a:r>
          </a:p>
        </p:txBody>
      </p:sp>
      <p:sp>
        <p:nvSpPr>
          <p:cNvPr id="8" name="TextBox 7"/>
          <p:cNvSpPr txBox="1"/>
          <p:nvPr/>
        </p:nvSpPr>
        <p:spPr>
          <a:xfrm>
            <a:off x="731520" y="2560320"/>
            <a:ext cx="5029200" cy="1828800"/>
          </a:xfrm>
          <a:prstGeom prst="rect">
            <a:avLst/>
          </a:prstGeom>
          <a:noFill/>
        </p:spPr>
        <p:txBody>
          <a:bodyPr wrap="square">
            <a:spAutoFit/>
          </a:bodyPr>
          <a:lstStyle/>
          <a:p>
            <a:pPr algn="l"/>
            <a:r>
              <a:rPr sz="4400" b="1" i="0">
                <a:solidFill>
                  <a:srgbClr val="FFFFFF"/>
                </a:solidFill>
              </a:rPr>
              <a:t>Coacalco de
Berriozábal</a:t>
            </a:r>
          </a:p>
        </p:txBody>
      </p:sp>
      <p:sp>
        <p:nvSpPr>
          <p:cNvPr id="9" name="TextBox 8"/>
          <p:cNvSpPr txBox="1"/>
          <p:nvPr/>
        </p:nvSpPr>
        <p:spPr>
          <a:xfrm>
            <a:off x="731520" y="4297680"/>
            <a:ext cx="5029200" cy="548640"/>
          </a:xfrm>
          <a:prstGeom prst="rect">
            <a:avLst/>
          </a:prstGeom>
          <a:noFill/>
        </p:spPr>
        <p:txBody>
          <a:bodyPr wrap="square">
            <a:spAutoFit/>
          </a:bodyPr>
          <a:lstStyle/>
          <a:p>
            <a:pPr algn="l"/>
            <a:r>
              <a:rPr sz="2200" b="0" i="1">
                <a:solidFill>
                  <a:srgbClr val="81C784"/>
                </a:solidFill>
              </a:rPr>
              <a:t>Estado de México</a:t>
            </a:r>
          </a:p>
        </p:txBody>
      </p:sp>
      <p:sp>
        <p:nvSpPr>
          <p:cNvPr id="10" name="TextBox 9"/>
          <p:cNvSpPr txBox="1"/>
          <p:nvPr/>
        </p:nvSpPr>
        <p:spPr>
          <a:xfrm>
            <a:off x="731520" y="4937760"/>
            <a:ext cx="5029200" cy="1492716"/>
          </a:xfrm>
          <a:prstGeom prst="rect">
            <a:avLst/>
          </a:prstGeom>
          <a:noFill/>
        </p:spPr>
        <p:txBody>
          <a:bodyPr wrap="square">
            <a:spAutoFit/>
          </a:bodyPr>
          <a:lstStyle/>
          <a:p>
            <a:pPr algn="l"/>
            <a:r>
              <a:rPr sz="1300" b="0" i="0" dirty="0" err="1">
                <a:solidFill>
                  <a:srgbClr val="C8E6C9"/>
                </a:solidFill>
              </a:rPr>
              <a:t>Situación</a:t>
            </a:r>
            <a:r>
              <a:rPr sz="1300" b="0" i="0" dirty="0">
                <a:solidFill>
                  <a:srgbClr val="C8E6C9"/>
                </a:solidFill>
              </a:rPr>
              <a:t> </a:t>
            </a:r>
            <a:r>
              <a:rPr sz="1300" b="0" i="0" dirty="0" err="1">
                <a:solidFill>
                  <a:srgbClr val="C8E6C9"/>
                </a:solidFill>
              </a:rPr>
              <a:t>ambiental</a:t>
            </a:r>
            <a:r>
              <a:rPr sz="1300" b="0" i="0" dirty="0">
                <a:solidFill>
                  <a:srgbClr val="C8E6C9"/>
                </a:solidFill>
              </a:rPr>
              <a:t>, fauna, flora y </a:t>
            </a:r>
            <a:r>
              <a:rPr sz="1300" b="0" i="0" dirty="0" err="1">
                <a:solidFill>
                  <a:srgbClr val="C8E6C9"/>
                </a:solidFill>
              </a:rPr>
              <a:t>problemáticas</a:t>
            </a:r>
            <a:r>
              <a:rPr sz="1300" b="0" i="0" dirty="0">
                <a:solidFill>
                  <a:srgbClr val="C8E6C9"/>
                </a:solidFill>
              </a:rPr>
              <a:t> </a:t>
            </a:r>
            <a:r>
              <a:rPr sz="1300" b="0" i="0" dirty="0" err="1" smtClean="0">
                <a:solidFill>
                  <a:srgbClr val="C8E6C9"/>
                </a:solidFill>
              </a:rPr>
              <a:t>actuales</a:t>
            </a:r>
            <a:endParaRPr lang="es-MX" sz="1300" b="0" i="0" dirty="0" smtClean="0">
              <a:solidFill>
                <a:srgbClr val="C8E6C9"/>
              </a:solidFill>
            </a:endParaRPr>
          </a:p>
          <a:p>
            <a:pPr algn="l"/>
            <a:endParaRPr lang="es-MX" sz="1300" dirty="0">
              <a:solidFill>
                <a:srgbClr val="C8E6C9"/>
              </a:solidFill>
            </a:endParaRPr>
          </a:p>
          <a:p>
            <a:pPr algn="l"/>
            <a:r>
              <a:rPr lang="es-MX" sz="1300" b="0" i="0" dirty="0" smtClean="0">
                <a:solidFill>
                  <a:srgbClr val="C8E6C9"/>
                </a:solidFill>
              </a:rPr>
              <a:t>LESLYE DANNAE URQUISA MONTES DE OCA</a:t>
            </a:r>
          </a:p>
          <a:p>
            <a:pPr algn="l"/>
            <a:r>
              <a:rPr lang="es-MX" sz="1300" dirty="0" smtClean="0">
                <a:solidFill>
                  <a:srgbClr val="C8E6C9"/>
                </a:solidFill>
              </a:rPr>
              <a:t>CAMILA ALEXA RAVELO VALLE</a:t>
            </a:r>
          </a:p>
          <a:p>
            <a:pPr algn="l"/>
            <a:r>
              <a:rPr lang="es-MX" sz="1300" b="0" i="0" dirty="0" smtClean="0">
                <a:solidFill>
                  <a:srgbClr val="C8E6C9"/>
                </a:solidFill>
              </a:rPr>
              <a:t>CATALINA ELIZABETH HERNANDEZ VARGAS </a:t>
            </a:r>
          </a:p>
          <a:p>
            <a:pPr algn="l"/>
            <a:r>
              <a:rPr lang="es-MX" sz="1300" dirty="0" smtClean="0">
                <a:solidFill>
                  <a:srgbClr val="C8E6C9"/>
                </a:solidFill>
              </a:rPr>
              <a:t>BLANCA YEREMI MARIN RIVAS</a:t>
            </a:r>
          </a:p>
          <a:p>
            <a:pPr algn="l"/>
            <a:r>
              <a:rPr lang="es-MX" sz="1300" b="0" i="0">
                <a:solidFill>
                  <a:srgbClr val="C8E6C9"/>
                </a:solidFill>
              </a:rPr>
              <a:t> </a:t>
            </a:r>
            <a:r>
              <a:rPr lang="es-MX" sz="1300" b="0" i="0" smtClean="0">
                <a:solidFill>
                  <a:srgbClr val="C8E6C9"/>
                </a:solidFill>
              </a:rPr>
              <a:t>                             1-4</a:t>
            </a:r>
            <a:endParaRPr sz="1300" b="0" i="0" dirty="0">
              <a:solidFill>
                <a:srgbClr val="C8E6C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9144000" cy="685800"/>
          </a:xfrm>
          <a:prstGeom prst="rect">
            <a:avLst/>
          </a:prstGeom>
          <a:noFill/>
        </p:spPr>
        <p:txBody>
          <a:bodyPr wrap="square">
            <a:spAutoFit/>
          </a:bodyPr>
          <a:lstStyle/>
          <a:p>
            <a:pPr algn="l"/>
            <a:r>
              <a:rPr sz="2800" b="1" i="0">
                <a:solidFill>
                  <a:srgbClr val="FFFFFF"/>
                </a:solidFill>
              </a:rPr>
              <a:t>CONTEXTO GENERAL</a:t>
            </a:r>
          </a:p>
        </p:txBody>
      </p:sp>
      <p:sp>
        <p:nvSpPr>
          <p:cNvPr id="5" name="Rectangle 4"/>
          <p:cNvSpPr/>
          <p:nvPr/>
        </p:nvSpPr>
        <p:spPr>
          <a:xfrm>
            <a:off x="365760" y="1188720"/>
            <a:ext cx="685800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80160"/>
            <a:ext cx="6400800" cy="502920"/>
          </a:xfrm>
          <a:prstGeom prst="rect">
            <a:avLst/>
          </a:prstGeom>
          <a:noFill/>
        </p:spPr>
        <p:txBody>
          <a:bodyPr wrap="square">
            <a:spAutoFit/>
          </a:bodyPr>
          <a:lstStyle/>
          <a:p>
            <a:pPr algn="l"/>
            <a:r>
              <a:rPr sz="1800" b="1" i="0">
                <a:solidFill>
                  <a:srgbClr val="1B5E20"/>
                </a:solidFill>
              </a:rPr>
              <a:t>Coacalco de Berriozábal</a:t>
            </a:r>
          </a:p>
        </p:txBody>
      </p:sp>
      <p:sp>
        <p:nvSpPr>
          <p:cNvPr id="7" name="TextBox 6"/>
          <p:cNvSpPr txBox="1"/>
          <p:nvPr/>
        </p:nvSpPr>
        <p:spPr>
          <a:xfrm>
            <a:off x="548640" y="1783080"/>
            <a:ext cx="6492240" cy="1097280"/>
          </a:xfrm>
          <a:prstGeom prst="rect">
            <a:avLst/>
          </a:prstGeom>
          <a:noFill/>
        </p:spPr>
        <p:txBody>
          <a:bodyPr wrap="square">
            <a:spAutoFit/>
          </a:bodyPr>
          <a:lstStyle/>
          <a:p>
            <a:pPr algn="l"/>
            <a:r>
              <a:rPr sz="1300" b="0" i="0">
                <a:solidFill>
                  <a:srgbClr val="212121"/>
                </a:solidFill>
              </a:rPr>
              <a:t>Municipio del Estado de México, parte integrante de la Zona Metropolitana del Valle de México. Ha experimentado un proceso de urbanización acelerada, transformándose en una urbe densamente poblada con severos cambios en el uso de suelo.</a:t>
            </a:r>
          </a:p>
        </p:txBody>
      </p:sp>
      <p:sp>
        <p:nvSpPr>
          <p:cNvPr id="8" name="Rectangle 7"/>
          <p:cNvSpPr/>
          <p:nvPr/>
        </p:nvSpPr>
        <p:spPr>
          <a:xfrm>
            <a:off x="548640" y="2880360"/>
            <a:ext cx="6492240" cy="6858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926079"/>
            <a:ext cx="6400800" cy="320040"/>
          </a:xfrm>
          <a:prstGeom prst="rect">
            <a:avLst/>
          </a:prstGeom>
          <a:noFill/>
        </p:spPr>
        <p:txBody>
          <a:bodyPr wrap="square">
            <a:spAutoFit/>
          </a:bodyPr>
          <a:lstStyle/>
          <a:p>
            <a:pPr algn="l"/>
            <a:r>
              <a:rPr sz="1200" b="1" i="0">
                <a:solidFill>
                  <a:srgbClr val="2E7D32"/>
                </a:solidFill>
              </a:rPr>
              <a:t>🏙️ Urbanización</a:t>
            </a:r>
          </a:p>
        </p:txBody>
      </p:sp>
      <p:sp>
        <p:nvSpPr>
          <p:cNvPr id="10" name="TextBox 9"/>
          <p:cNvSpPr txBox="1"/>
          <p:nvPr/>
        </p:nvSpPr>
        <p:spPr>
          <a:xfrm>
            <a:off x="685800" y="3227832"/>
            <a:ext cx="6217920" cy="320040"/>
          </a:xfrm>
          <a:prstGeom prst="rect">
            <a:avLst/>
          </a:prstGeom>
          <a:noFill/>
        </p:spPr>
        <p:txBody>
          <a:bodyPr wrap="square">
            <a:spAutoFit/>
          </a:bodyPr>
          <a:lstStyle/>
          <a:p>
            <a:pPr algn="l"/>
            <a:r>
              <a:rPr sz="1100" b="0" i="0">
                <a:solidFill>
                  <a:srgbClr val="212121"/>
                </a:solidFill>
              </a:rPr>
              <a:t>Crecimiento acelerado con cambios severos en uso de suelo</a:t>
            </a:r>
          </a:p>
        </p:txBody>
      </p:sp>
      <p:sp>
        <p:nvSpPr>
          <p:cNvPr id="11" name="Rectangle 10"/>
          <p:cNvSpPr/>
          <p:nvPr/>
        </p:nvSpPr>
        <p:spPr>
          <a:xfrm>
            <a:off x="548640" y="3639312"/>
            <a:ext cx="6492240" cy="6858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3685032"/>
            <a:ext cx="6400800" cy="320040"/>
          </a:xfrm>
          <a:prstGeom prst="rect">
            <a:avLst/>
          </a:prstGeom>
          <a:noFill/>
        </p:spPr>
        <p:txBody>
          <a:bodyPr wrap="square">
            <a:spAutoFit/>
          </a:bodyPr>
          <a:lstStyle/>
          <a:p>
            <a:pPr algn="l"/>
            <a:r>
              <a:rPr sz="1200" b="1" i="0">
                <a:solidFill>
                  <a:srgbClr val="2E7D32"/>
                </a:solidFill>
              </a:rPr>
              <a:t>🌿 Sierra de Guadalupe</a:t>
            </a:r>
          </a:p>
        </p:txBody>
      </p:sp>
      <p:sp>
        <p:nvSpPr>
          <p:cNvPr id="13" name="TextBox 12"/>
          <p:cNvSpPr txBox="1"/>
          <p:nvPr/>
        </p:nvSpPr>
        <p:spPr>
          <a:xfrm>
            <a:off x="685800" y="3986784"/>
            <a:ext cx="6217920" cy="320040"/>
          </a:xfrm>
          <a:prstGeom prst="rect">
            <a:avLst/>
          </a:prstGeom>
          <a:noFill/>
        </p:spPr>
        <p:txBody>
          <a:bodyPr wrap="square">
            <a:spAutoFit/>
          </a:bodyPr>
          <a:lstStyle/>
          <a:p>
            <a:pPr algn="l"/>
            <a:r>
              <a:rPr sz="1100" b="0" i="0">
                <a:solidFill>
                  <a:srgbClr val="212121"/>
                </a:solidFill>
              </a:rPr>
              <a:t>322 especies de flora y 361 de fauna en área protegida</a:t>
            </a:r>
          </a:p>
        </p:txBody>
      </p:sp>
      <p:sp>
        <p:nvSpPr>
          <p:cNvPr id="14" name="Rectangle 13"/>
          <p:cNvSpPr/>
          <p:nvPr/>
        </p:nvSpPr>
        <p:spPr>
          <a:xfrm>
            <a:off x="548640" y="4398264"/>
            <a:ext cx="6492240" cy="6858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4443983"/>
            <a:ext cx="6400800" cy="320040"/>
          </a:xfrm>
          <a:prstGeom prst="rect">
            <a:avLst/>
          </a:prstGeom>
          <a:noFill/>
        </p:spPr>
        <p:txBody>
          <a:bodyPr wrap="square">
            <a:spAutoFit/>
          </a:bodyPr>
          <a:lstStyle/>
          <a:p>
            <a:pPr algn="l"/>
            <a:r>
              <a:rPr sz="1200" b="1" i="0">
                <a:solidFill>
                  <a:srgbClr val="2E7D32"/>
                </a:solidFill>
              </a:rPr>
              <a:t>⚠️ Presión ambiental</a:t>
            </a:r>
          </a:p>
        </p:txBody>
      </p:sp>
      <p:sp>
        <p:nvSpPr>
          <p:cNvPr id="16" name="TextBox 15"/>
          <p:cNvSpPr txBox="1"/>
          <p:nvPr/>
        </p:nvSpPr>
        <p:spPr>
          <a:xfrm>
            <a:off x="685800" y="4745736"/>
            <a:ext cx="6217920" cy="320040"/>
          </a:xfrm>
          <a:prstGeom prst="rect">
            <a:avLst/>
          </a:prstGeom>
          <a:noFill/>
        </p:spPr>
        <p:txBody>
          <a:bodyPr wrap="square">
            <a:spAutoFit/>
          </a:bodyPr>
          <a:lstStyle/>
          <a:p>
            <a:pPr algn="l"/>
            <a:r>
              <a:rPr sz="1100" b="0" i="0">
                <a:solidFill>
                  <a:srgbClr val="212121"/>
                </a:solidFill>
              </a:rPr>
              <a:t>Asentamientos irregulares y tala hormiga en zonas protegidas</a:t>
            </a:r>
          </a:p>
        </p:txBody>
      </p:sp>
      <p:sp>
        <p:nvSpPr>
          <p:cNvPr id="17" name="Rectangle 16"/>
          <p:cNvSpPr/>
          <p:nvPr/>
        </p:nvSpPr>
        <p:spPr>
          <a:xfrm>
            <a:off x="548640" y="5157216"/>
            <a:ext cx="6492240" cy="6858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5202936"/>
            <a:ext cx="6400800" cy="320040"/>
          </a:xfrm>
          <a:prstGeom prst="rect">
            <a:avLst/>
          </a:prstGeom>
          <a:noFill/>
        </p:spPr>
        <p:txBody>
          <a:bodyPr wrap="square">
            <a:spAutoFit/>
          </a:bodyPr>
          <a:lstStyle/>
          <a:p>
            <a:pPr algn="l"/>
            <a:r>
              <a:rPr sz="1200" b="1" i="0">
                <a:solidFill>
                  <a:srgbClr val="2E7D32"/>
                </a:solidFill>
              </a:rPr>
              <a:t>📋 Marco legal</a:t>
            </a:r>
          </a:p>
        </p:txBody>
      </p:sp>
      <p:sp>
        <p:nvSpPr>
          <p:cNvPr id="19" name="TextBox 18"/>
          <p:cNvSpPr txBox="1"/>
          <p:nvPr/>
        </p:nvSpPr>
        <p:spPr>
          <a:xfrm>
            <a:off x="685800" y="5504688"/>
            <a:ext cx="6217920" cy="320040"/>
          </a:xfrm>
          <a:prstGeom prst="rect">
            <a:avLst/>
          </a:prstGeom>
          <a:noFill/>
        </p:spPr>
        <p:txBody>
          <a:bodyPr wrap="square">
            <a:spAutoFit/>
          </a:bodyPr>
          <a:lstStyle/>
          <a:p>
            <a:pPr algn="l"/>
            <a:r>
              <a:rPr sz="1100" b="0" i="0">
                <a:solidFill>
                  <a:srgbClr val="212121"/>
                </a:solidFill>
              </a:rPr>
              <a:t>Código Penal Edomex: hasta 25 años de prisión por delitos ambientales</a:t>
            </a:r>
          </a:p>
        </p:txBody>
      </p:sp>
      <p:pic>
        <p:nvPicPr>
          <p:cNvPr id="20" name="Picture 19" descr="Image13.jpg"/>
          <p:cNvPicPr>
            <a:picLocks noChangeAspect="1"/>
          </p:cNvPicPr>
          <p:nvPr/>
        </p:nvPicPr>
        <p:blipFill>
          <a:blip r:embed="rId2"/>
          <a:stretch>
            <a:fillRect/>
          </a:stretch>
        </p:blipFill>
        <p:spPr>
          <a:xfrm>
            <a:off x="7589520" y="1188720"/>
            <a:ext cx="4206240" cy="2926080"/>
          </a:xfrm>
          <a:prstGeom prst="rect">
            <a:avLst/>
          </a:prstGeom>
        </p:spPr>
      </p:pic>
      <p:sp>
        <p:nvSpPr>
          <p:cNvPr id="21" name="Rectangle 20"/>
          <p:cNvSpPr/>
          <p:nvPr/>
        </p:nvSpPr>
        <p:spPr>
          <a:xfrm>
            <a:off x="7589520" y="4206240"/>
            <a:ext cx="4206240" cy="4572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35240" y="4224528"/>
            <a:ext cx="4114800" cy="411480"/>
          </a:xfrm>
          <a:prstGeom prst="rect">
            <a:avLst/>
          </a:prstGeom>
          <a:noFill/>
        </p:spPr>
        <p:txBody>
          <a:bodyPr wrap="square">
            <a:spAutoFit/>
          </a:bodyPr>
          <a:lstStyle/>
          <a:p>
            <a:pPr algn="l"/>
            <a:r>
              <a:rPr sz="1000" b="0" i="1">
                <a:solidFill>
                  <a:srgbClr val="FFFFFF"/>
                </a:solidFill>
              </a:rPr>
              <a:t>Sierra de Guadalupe — Área Natural Protegida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4.jpg"/>
          <p:cNvPicPr>
            <a:picLocks noChangeAspect="1"/>
          </p:cNvPicPr>
          <p:nvPr/>
        </p:nvPicPr>
        <p:blipFill>
          <a:blip r:embed="rId2"/>
          <a:stretch>
            <a:fillRect/>
          </a:stretch>
        </p:blipFill>
        <p:spPr>
          <a:xfrm>
            <a:off x="0" y="0"/>
            <a:ext cx="12188952" cy="6858000"/>
          </a:xfrm>
          <a:prstGeom prst="rect">
            <a:avLst/>
          </a:prstGeom>
        </p:spPr>
      </p:pic>
      <p:sp>
        <p:nvSpPr>
          <p:cNvPr id="4" name="Rectangle 3"/>
          <p:cNvSpPr/>
          <p:nvPr/>
        </p:nvSpPr>
        <p:spPr>
          <a:xfrm>
            <a:off x="0" y="0"/>
            <a:ext cx="12188952" cy="1371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3840480"/>
            <a:ext cx="12188952" cy="30175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4023360"/>
            <a:ext cx="109728" cy="219456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1440"/>
            <a:ext cx="10972800" cy="731520"/>
          </a:xfrm>
          <a:prstGeom prst="rect">
            <a:avLst/>
          </a:prstGeom>
          <a:noFill/>
        </p:spPr>
        <p:txBody>
          <a:bodyPr wrap="square">
            <a:spAutoFit/>
          </a:bodyPr>
          <a:lstStyle/>
          <a:p>
            <a:pPr algn="l"/>
            <a:r>
              <a:rPr sz="3400" b="1" i="0">
                <a:solidFill>
                  <a:srgbClr val="FFFFFF"/>
                </a:solidFill>
              </a:rPr>
              <a:t>DEFORESTACIÓN</a:t>
            </a:r>
          </a:p>
        </p:txBody>
      </p:sp>
      <p:sp>
        <p:nvSpPr>
          <p:cNvPr id="8" name="TextBox 7"/>
          <p:cNvSpPr txBox="1"/>
          <p:nvPr/>
        </p:nvSpPr>
        <p:spPr>
          <a:xfrm>
            <a:off x="457200" y="777240"/>
            <a:ext cx="10972800" cy="502920"/>
          </a:xfrm>
          <a:prstGeom prst="rect">
            <a:avLst/>
          </a:prstGeom>
          <a:noFill/>
        </p:spPr>
        <p:txBody>
          <a:bodyPr wrap="square">
            <a:spAutoFit/>
          </a:bodyPr>
          <a:lstStyle/>
          <a:p>
            <a:pPr algn="l"/>
            <a:r>
              <a:rPr sz="2200" b="0" i="1">
                <a:solidFill>
                  <a:srgbClr val="E65100"/>
                </a:solidFill>
              </a:rPr>
              <a:t>y Tala Ilegal</a:t>
            </a:r>
          </a:p>
        </p:txBody>
      </p:sp>
      <p:sp>
        <p:nvSpPr>
          <p:cNvPr id="9" name="TextBox 8"/>
          <p:cNvSpPr txBox="1"/>
          <p:nvPr/>
        </p:nvSpPr>
        <p:spPr>
          <a:xfrm>
            <a:off x="731520" y="4114800"/>
            <a:ext cx="8229600" cy="457200"/>
          </a:xfrm>
          <a:prstGeom prst="rect">
            <a:avLst/>
          </a:prstGeom>
          <a:noFill/>
        </p:spPr>
        <p:txBody>
          <a:bodyPr wrap="square">
            <a:spAutoFit/>
          </a:bodyPr>
          <a:lstStyle/>
          <a:p>
            <a:pPr algn="l"/>
            <a:r>
              <a:rPr sz="1600" b="1" i="0">
                <a:solidFill>
                  <a:srgbClr val="E65100"/>
                </a:solidFill>
              </a:rPr>
              <a:t>Situación en Coacalco</a:t>
            </a:r>
          </a:p>
        </p:txBody>
      </p:sp>
      <p:sp>
        <p:nvSpPr>
          <p:cNvPr id="10" name="TextBox 9"/>
          <p:cNvSpPr txBox="1"/>
          <p:nvPr/>
        </p:nvSpPr>
        <p:spPr>
          <a:xfrm>
            <a:off x="731520" y="4617720"/>
            <a:ext cx="10515600" cy="2011680"/>
          </a:xfrm>
          <a:prstGeom prst="rect">
            <a:avLst/>
          </a:prstGeom>
          <a:noFill/>
        </p:spPr>
        <p:txBody>
          <a:bodyPr wrap="square">
            <a:spAutoFit/>
          </a:bodyPr>
          <a:lstStyle/>
          <a:p>
            <a:pPr algn="l"/>
            <a:r>
              <a:rPr sz="1300" b="0" i="0">
                <a:solidFill>
                  <a:srgbClr val="FFFFFF"/>
                </a:solidFill>
              </a:rPr>
              <a:t>• Vecinos reportan derribo de árboles de gran tamaño para facilitar obras públicas
  y proyectos privados sin justificación ambiental adecuada.
• La Sierra de Guadalupe sufre tala hormiga y presión de asentamientos irregulares.
• Aunque no es municipio prioritario por tala clandestina industrial, enfrenta
  sanciones severas bajo el Código Penal del Estado de México.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9144000" cy="685800"/>
          </a:xfrm>
          <a:prstGeom prst="rect">
            <a:avLst/>
          </a:prstGeom>
          <a:noFill/>
        </p:spPr>
        <p:txBody>
          <a:bodyPr wrap="square">
            <a:spAutoFit/>
          </a:bodyPr>
          <a:lstStyle/>
          <a:p>
            <a:pPr algn="l"/>
            <a:r>
              <a:rPr sz="2800" b="1" i="0">
                <a:solidFill>
                  <a:srgbClr val="FFFFFF"/>
                </a:solidFill>
              </a:rPr>
              <a:t>CONTAMINACIÓN</a:t>
            </a:r>
          </a:p>
        </p:txBody>
      </p:sp>
      <p:sp>
        <p:nvSpPr>
          <p:cNvPr id="5" name="Rectangle 4"/>
          <p:cNvSpPr/>
          <p:nvPr/>
        </p:nvSpPr>
        <p:spPr>
          <a:xfrm>
            <a:off x="457200" y="1188720"/>
            <a:ext cx="3566160" cy="521208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188720"/>
            <a:ext cx="3566160" cy="640080"/>
          </a:xfrm>
          <a:prstGeom prst="rect">
            <a:avLst/>
          </a:prstGeom>
          <a:solidFill>
            <a:srgbClr val="420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34440"/>
            <a:ext cx="3383280" cy="502920"/>
          </a:xfrm>
          <a:prstGeom prst="rect">
            <a:avLst/>
          </a:prstGeom>
          <a:noFill/>
        </p:spPr>
        <p:txBody>
          <a:bodyPr wrap="square">
            <a:spAutoFit/>
          </a:bodyPr>
          <a:lstStyle/>
          <a:p>
            <a:pPr algn="l"/>
            <a:r>
              <a:rPr sz="1800" b="1" i="0">
                <a:solidFill>
                  <a:srgbClr val="FFFFFF"/>
                </a:solidFill>
              </a:rPr>
              <a:t>AIRE</a:t>
            </a:r>
          </a:p>
        </p:txBody>
      </p:sp>
      <p:sp>
        <p:nvSpPr>
          <p:cNvPr id="8" name="TextBox 7"/>
          <p:cNvSpPr txBox="1"/>
          <p:nvPr/>
        </p:nvSpPr>
        <p:spPr>
          <a:xfrm>
            <a:off x="594360" y="1965960"/>
            <a:ext cx="3291840" cy="4114800"/>
          </a:xfrm>
          <a:prstGeom prst="rect">
            <a:avLst/>
          </a:prstGeom>
          <a:noFill/>
        </p:spPr>
        <p:txBody>
          <a:bodyPr wrap="square">
            <a:spAutoFit/>
          </a:bodyPr>
          <a:lstStyle/>
          <a:p>
            <a:pPr algn="l"/>
            <a:r>
              <a:rPr sz="1300" b="0" i="0">
                <a:solidFill>
                  <a:srgbClr val="FFFFFF"/>
                </a:solidFill>
              </a:rPr>
              <a:t>Calidad de moderada a mala con partículas PM2.5 superiores a límites de la OMS. La concentración es 3.6 veces superior al valor guía anual de la OMS, afectando especialmente a grupos sensibles.</a:t>
            </a:r>
          </a:p>
        </p:txBody>
      </p:sp>
      <p:sp>
        <p:nvSpPr>
          <p:cNvPr id="9" name="Rectangle 8"/>
          <p:cNvSpPr/>
          <p:nvPr/>
        </p:nvSpPr>
        <p:spPr>
          <a:xfrm>
            <a:off x="4297680" y="1188720"/>
            <a:ext cx="3566160" cy="5212080"/>
          </a:xfrm>
          <a:prstGeom prst="rect">
            <a:avLst/>
          </a:prstGeom>
          <a:solidFill>
            <a:srgbClr val="015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97680" y="1188720"/>
            <a:ext cx="3566160" cy="640080"/>
          </a:xfrm>
          <a:prstGeom prst="rect">
            <a:avLst/>
          </a:prstGeom>
          <a:solidFill>
            <a:srgbClr val="002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1234440"/>
            <a:ext cx="3383280" cy="502920"/>
          </a:xfrm>
          <a:prstGeom prst="rect">
            <a:avLst/>
          </a:prstGeom>
          <a:noFill/>
        </p:spPr>
        <p:txBody>
          <a:bodyPr wrap="square">
            <a:spAutoFit/>
          </a:bodyPr>
          <a:lstStyle/>
          <a:p>
            <a:pPr algn="l"/>
            <a:r>
              <a:rPr sz="1800" b="1" i="0">
                <a:solidFill>
                  <a:srgbClr val="FFFFFF"/>
                </a:solidFill>
              </a:rPr>
              <a:t>AGUA</a:t>
            </a:r>
          </a:p>
        </p:txBody>
      </p:sp>
      <p:sp>
        <p:nvSpPr>
          <p:cNvPr id="12" name="TextBox 11"/>
          <p:cNvSpPr txBox="1"/>
          <p:nvPr/>
        </p:nvSpPr>
        <p:spPr>
          <a:xfrm>
            <a:off x="4434840" y="1965960"/>
            <a:ext cx="3291840" cy="4114800"/>
          </a:xfrm>
          <a:prstGeom prst="rect">
            <a:avLst/>
          </a:prstGeom>
          <a:noFill/>
        </p:spPr>
        <p:txBody>
          <a:bodyPr wrap="square">
            <a:spAutoFit/>
          </a:bodyPr>
          <a:lstStyle/>
          <a:p>
            <a:pPr algn="l"/>
            <a:r>
              <a:rPr sz="1300" b="0" i="0">
                <a:solidFill>
                  <a:srgbClr val="FFFFFF"/>
                </a:solidFill>
              </a:rPr>
              <a:t>Vecinos reportan que el agua suministrada presenta bacterias. Problemas graves de contaminación en canales y el Gran Canal por descargas industriales y domésticas.</a:t>
            </a:r>
          </a:p>
        </p:txBody>
      </p:sp>
      <p:sp>
        <p:nvSpPr>
          <p:cNvPr id="13" name="Rectangle 12"/>
          <p:cNvSpPr/>
          <p:nvPr/>
        </p:nvSpPr>
        <p:spPr>
          <a:xfrm>
            <a:off x="8138160" y="1188720"/>
            <a:ext cx="3566160" cy="52120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188720"/>
            <a:ext cx="3566160" cy="640080"/>
          </a:xfrm>
          <a:prstGeom prst="rect">
            <a:avLst/>
          </a:prstGeom>
          <a:solidFill>
            <a:srgbClr val="065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0" y="1234440"/>
            <a:ext cx="3383280" cy="502920"/>
          </a:xfrm>
          <a:prstGeom prst="rect">
            <a:avLst/>
          </a:prstGeom>
          <a:noFill/>
        </p:spPr>
        <p:txBody>
          <a:bodyPr wrap="square">
            <a:spAutoFit/>
          </a:bodyPr>
          <a:lstStyle/>
          <a:p>
            <a:pPr algn="l"/>
            <a:r>
              <a:rPr sz="1800" b="1" i="0">
                <a:solidFill>
                  <a:srgbClr val="FFFFFF"/>
                </a:solidFill>
              </a:rPr>
              <a:t>BASURA</a:t>
            </a:r>
          </a:p>
        </p:txBody>
      </p:sp>
      <p:sp>
        <p:nvSpPr>
          <p:cNvPr id="16" name="TextBox 15"/>
          <p:cNvSpPr txBox="1"/>
          <p:nvPr/>
        </p:nvSpPr>
        <p:spPr>
          <a:xfrm>
            <a:off x="8275320" y="1965960"/>
            <a:ext cx="3291840" cy="4114800"/>
          </a:xfrm>
          <a:prstGeom prst="rect">
            <a:avLst/>
          </a:prstGeom>
          <a:noFill/>
        </p:spPr>
        <p:txBody>
          <a:bodyPr wrap="square">
            <a:spAutoFit/>
          </a:bodyPr>
          <a:lstStyle/>
          <a:p>
            <a:pPr algn="l"/>
            <a:r>
              <a:rPr sz="1300" b="0" i="0">
                <a:solidFill>
                  <a:srgbClr val="FFFFFF"/>
                </a:solidFill>
              </a:rPr>
              <a:t>Acumulación de residuos en barrancas y canales. Las emisiones vehiculares e industriales combinadas con la basura generan un entorno de alta contaminación ambiental.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9144000" cy="685800"/>
          </a:xfrm>
          <a:prstGeom prst="rect">
            <a:avLst/>
          </a:prstGeom>
          <a:noFill/>
        </p:spPr>
        <p:txBody>
          <a:bodyPr wrap="square">
            <a:spAutoFit/>
          </a:bodyPr>
          <a:lstStyle/>
          <a:p>
            <a:pPr algn="l"/>
            <a:r>
              <a:rPr sz="2800" b="1" i="0">
                <a:solidFill>
                  <a:srgbClr val="FFFFFF"/>
                </a:solidFill>
              </a:rPr>
              <a:t>FAUNA DE COACALCO</a:t>
            </a:r>
          </a:p>
        </p:txBody>
      </p:sp>
      <p:sp>
        <p:nvSpPr>
          <p:cNvPr id="5" name="TextBox 4"/>
          <p:cNvSpPr txBox="1"/>
          <p:nvPr/>
        </p:nvSpPr>
        <p:spPr>
          <a:xfrm>
            <a:off x="8229600" y="228600"/>
            <a:ext cx="3657600" cy="548640"/>
          </a:xfrm>
          <a:prstGeom prst="rect">
            <a:avLst/>
          </a:prstGeom>
          <a:noFill/>
        </p:spPr>
        <p:txBody>
          <a:bodyPr wrap="square">
            <a:spAutoFit/>
          </a:bodyPr>
          <a:lstStyle/>
          <a:p>
            <a:pPr algn="l"/>
            <a:r>
              <a:rPr sz="1100" b="0" i="1">
                <a:solidFill>
                  <a:srgbClr val="81C784"/>
                </a:solidFill>
              </a:rPr>
              <a:t>Sierra de Guadalupe · 361 especies registradas</a:t>
            </a:r>
          </a:p>
        </p:txBody>
      </p:sp>
      <p:pic>
        <p:nvPicPr>
          <p:cNvPr id="6" name="Picture 5" descr="Image11.jpg"/>
          <p:cNvPicPr>
            <a:picLocks noChangeAspect="1"/>
          </p:cNvPicPr>
          <p:nvPr/>
        </p:nvPicPr>
        <p:blipFill>
          <a:blip r:embed="rId2"/>
          <a:stretch>
            <a:fillRect/>
          </a:stretch>
        </p:blipFill>
        <p:spPr>
          <a:xfrm>
            <a:off x="365760" y="1097280"/>
            <a:ext cx="4114800" cy="2743200"/>
          </a:xfrm>
          <a:prstGeom prst="rect">
            <a:avLst/>
          </a:prstGeom>
        </p:spPr>
      </p:pic>
      <p:sp>
        <p:nvSpPr>
          <p:cNvPr id="7" name="Rectangle 6"/>
          <p:cNvSpPr/>
          <p:nvPr/>
        </p:nvSpPr>
        <p:spPr>
          <a:xfrm>
            <a:off x="365760" y="3840480"/>
            <a:ext cx="4114800" cy="41148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3867912"/>
            <a:ext cx="3931920" cy="365760"/>
          </a:xfrm>
          <a:prstGeom prst="rect">
            <a:avLst/>
          </a:prstGeom>
          <a:noFill/>
        </p:spPr>
        <p:txBody>
          <a:bodyPr wrap="square">
            <a:spAutoFit/>
          </a:bodyPr>
          <a:lstStyle/>
          <a:p>
            <a:pPr algn="l"/>
            <a:r>
              <a:rPr sz="1000" b="0" i="1">
                <a:solidFill>
                  <a:srgbClr val="FFFFFF"/>
                </a:solidFill>
              </a:rPr>
              <a:t>Tlacuache (Didelphis virginiana)</a:t>
            </a:r>
          </a:p>
        </p:txBody>
      </p:sp>
      <p:pic>
        <p:nvPicPr>
          <p:cNvPr id="9" name="Picture 8" descr="Image12.jpg"/>
          <p:cNvPicPr>
            <a:picLocks noChangeAspect="1"/>
          </p:cNvPicPr>
          <p:nvPr/>
        </p:nvPicPr>
        <p:blipFill>
          <a:blip r:embed="rId3"/>
          <a:stretch>
            <a:fillRect/>
          </a:stretch>
        </p:blipFill>
        <p:spPr>
          <a:xfrm>
            <a:off x="4754880" y="1097280"/>
            <a:ext cx="4572000" cy="2743200"/>
          </a:xfrm>
          <a:prstGeom prst="rect">
            <a:avLst/>
          </a:prstGeom>
        </p:spPr>
      </p:pic>
      <p:sp>
        <p:nvSpPr>
          <p:cNvPr id="10" name="Rectangle 9"/>
          <p:cNvSpPr/>
          <p:nvPr/>
        </p:nvSpPr>
        <p:spPr>
          <a:xfrm>
            <a:off x="4754880" y="3840480"/>
            <a:ext cx="457200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00600" y="3867912"/>
            <a:ext cx="4389120" cy="365760"/>
          </a:xfrm>
          <a:prstGeom prst="rect">
            <a:avLst/>
          </a:prstGeom>
          <a:noFill/>
        </p:spPr>
        <p:txBody>
          <a:bodyPr wrap="square">
            <a:spAutoFit/>
          </a:bodyPr>
          <a:lstStyle/>
          <a:p>
            <a:pPr algn="l"/>
            <a:r>
              <a:rPr sz="1000" b="0" i="1">
                <a:solidFill>
                  <a:srgbClr val="FFFFFF"/>
                </a:solidFill>
              </a:rPr>
              <a:t>Cacomixtle — Emblema Ambiental de Coacalco</a:t>
            </a:r>
          </a:p>
        </p:txBody>
      </p:sp>
      <p:sp>
        <p:nvSpPr>
          <p:cNvPr id="12" name="Rectangle 11"/>
          <p:cNvSpPr/>
          <p:nvPr/>
        </p:nvSpPr>
        <p:spPr>
          <a:xfrm>
            <a:off x="9509760" y="1097280"/>
            <a:ext cx="2377440" cy="315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0" y="1143000"/>
            <a:ext cx="2194560" cy="365760"/>
          </a:xfrm>
          <a:prstGeom prst="rect">
            <a:avLst/>
          </a:prstGeom>
          <a:noFill/>
        </p:spPr>
        <p:txBody>
          <a:bodyPr wrap="square">
            <a:spAutoFit/>
          </a:bodyPr>
          <a:lstStyle/>
          <a:p>
            <a:pPr algn="l"/>
            <a:r>
              <a:rPr sz="1200" b="1" i="0">
                <a:solidFill>
                  <a:srgbClr val="1B5E20"/>
                </a:solidFill>
              </a:rPr>
              <a:t>🦝 Mamíferos</a:t>
            </a:r>
          </a:p>
        </p:txBody>
      </p:sp>
      <p:sp>
        <p:nvSpPr>
          <p:cNvPr id="14" name="TextBox 13"/>
          <p:cNvSpPr txBox="1"/>
          <p:nvPr/>
        </p:nvSpPr>
        <p:spPr>
          <a:xfrm>
            <a:off x="9601200" y="1508760"/>
            <a:ext cx="2194560" cy="1371600"/>
          </a:xfrm>
          <a:prstGeom prst="rect">
            <a:avLst/>
          </a:prstGeom>
          <a:noFill/>
        </p:spPr>
        <p:txBody>
          <a:bodyPr wrap="square">
            <a:spAutoFit/>
          </a:bodyPr>
          <a:lstStyle/>
          <a:p>
            <a:pPr algn="l"/>
            <a:r>
              <a:rPr sz="1100" b="0" i="0">
                <a:solidFill>
                  <a:srgbClr val="212121"/>
                </a:solidFill>
              </a:rPr>
              <a:t>· Cacomixtle
· Tlacuache
· Coyote
· Zorro gris
· Ardilla
· Conejo
· Liebre</a:t>
            </a:r>
          </a:p>
        </p:txBody>
      </p:sp>
      <p:sp>
        <p:nvSpPr>
          <p:cNvPr id="15" name="TextBox 14"/>
          <p:cNvSpPr txBox="1"/>
          <p:nvPr/>
        </p:nvSpPr>
        <p:spPr>
          <a:xfrm>
            <a:off x="9601200" y="2880360"/>
            <a:ext cx="2194560" cy="365760"/>
          </a:xfrm>
          <a:prstGeom prst="rect">
            <a:avLst/>
          </a:prstGeom>
          <a:noFill/>
        </p:spPr>
        <p:txBody>
          <a:bodyPr wrap="square">
            <a:spAutoFit/>
          </a:bodyPr>
          <a:lstStyle/>
          <a:p>
            <a:pPr algn="l"/>
            <a:r>
              <a:rPr sz="1200" b="1" i="0">
                <a:solidFill>
                  <a:srgbClr val="1B5E20"/>
                </a:solidFill>
              </a:rPr>
              <a:t>🦅 Aves Rapaces</a:t>
            </a:r>
          </a:p>
        </p:txBody>
      </p:sp>
      <p:sp>
        <p:nvSpPr>
          <p:cNvPr id="16" name="TextBox 15"/>
          <p:cNvSpPr txBox="1"/>
          <p:nvPr/>
        </p:nvSpPr>
        <p:spPr>
          <a:xfrm>
            <a:off x="9601200" y="3246120"/>
            <a:ext cx="2194560" cy="1005840"/>
          </a:xfrm>
          <a:prstGeom prst="rect">
            <a:avLst/>
          </a:prstGeom>
          <a:noFill/>
        </p:spPr>
        <p:txBody>
          <a:bodyPr wrap="square">
            <a:spAutoFit/>
          </a:bodyPr>
          <a:lstStyle/>
          <a:p>
            <a:pPr algn="l"/>
            <a:r>
              <a:rPr sz="1100" b="0" i="0">
                <a:solidFill>
                  <a:srgbClr val="212121"/>
                </a:solidFill>
              </a:rPr>
              <a:t>· Águila real
· Halcón peregrino
· Búho real
· Lechuza</a:t>
            </a:r>
          </a:p>
        </p:txBody>
      </p:sp>
      <p:sp>
        <p:nvSpPr>
          <p:cNvPr id="17" name="Rectangle 16"/>
          <p:cNvSpPr/>
          <p:nvPr/>
        </p:nvSpPr>
        <p:spPr>
          <a:xfrm>
            <a:off x="365760" y="4389120"/>
            <a:ext cx="11430000" cy="822960"/>
          </a:xfrm>
          <a:prstGeom prst="rect">
            <a:avLst/>
          </a:prstGeom>
          <a:solidFill>
            <a:srgbClr val="FFF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5760" y="4389120"/>
            <a:ext cx="73152" cy="82296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4443984"/>
            <a:ext cx="10972800" cy="685800"/>
          </a:xfrm>
          <a:prstGeom prst="rect">
            <a:avLst/>
          </a:prstGeom>
          <a:noFill/>
        </p:spPr>
        <p:txBody>
          <a:bodyPr wrap="square">
            <a:spAutoFit/>
          </a:bodyPr>
          <a:lstStyle/>
          <a:p>
            <a:pPr algn="l"/>
            <a:r>
              <a:rPr sz="1200" b="0" i="0">
                <a:solidFill>
                  <a:srgbClr val="4E3400"/>
                </a:solidFill>
              </a:rPr>
              <a:t>⚠️  Amenaza: Tráfico ilegal de fauna — captura de aves y pequeños mamíferos para venta clandestina en la zona metropolitana.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9144000" cy="685800"/>
          </a:xfrm>
          <a:prstGeom prst="rect">
            <a:avLst/>
          </a:prstGeom>
          <a:noFill/>
        </p:spPr>
        <p:txBody>
          <a:bodyPr wrap="square">
            <a:spAutoFit/>
          </a:bodyPr>
          <a:lstStyle/>
          <a:p>
            <a:pPr algn="l"/>
            <a:r>
              <a:rPr sz="2800" b="1" i="0">
                <a:solidFill>
                  <a:srgbClr val="FFFFFF"/>
                </a:solidFill>
              </a:rPr>
              <a:t>FLORA DE COACALCO</a:t>
            </a:r>
          </a:p>
        </p:txBody>
      </p:sp>
      <p:sp>
        <p:nvSpPr>
          <p:cNvPr id="5" name="TextBox 4"/>
          <p:cNvSpPr txBox="1"/>
          <p:nvPr/>
        </p:nvSpPr>
        <p:spPr>
          <a:xfrm>
            <a:off x="8229600" y="228600"/>
            <a:ext cx="3657600" cy="548640"/>
          </a:xfrm>
          <a:prstGeom prst="rect">
            <a:avLst/>
          </a:prstGeom>
          <a:noFill/>
        </p:spPr>
        <p:txBody>
          <a:bodyPr wrap="square">
            <a:spAutoFit/>
          </a:bodyPr>
          <a:lstStyle/>
          <a:p>
            <a:pPr algn="l"/>
            <a:r>
              <a:rPr sz="1100" b="0" i="1">
                <a:solidFill>
                  <a:srgbClr val="81C784"/>
                </a:solidFill>
              </a:rPr>
              <a:t>Sierra de Guadalupe · 322 especies registradas</a:t>
            </a:r>
          </a:p>
        </p:txBody>
      </p:sp>
      <p:pic>
        <p:nvPicPr>
          <p:cNvPr id="6" name="Picture 5" descr="Image13.jpg"/>
          <p:cNvPicPr>
            <a:picLocks noChangeAspect="1"/>
          </p:cNvPicPr>
          <p:nvPr/>
        </p:nvPicPr>
        <p:blipFill>
          <a:blip r:embed="rId2"/>
          <a:stretch>
            <a:fillRect/>
          </a:stretch>
        </p:blipFill>
        <p:spPr>
          <a:xfrm>
            <a:off x="365760" y="1097280"/>
            <a:ext cx="5486400" cy="4114800"/>
          </a:xfrm>
          <a:prstGeom prst="rect">
            <a:avLst/>
          </a:prstGeom>
        </p:spPr>
      </p:pic>
      <p:sp>
        <p:nvSpPr>
          <p:cNvPr id="7" name="Rectangle 6"/>
          <p:cNvSpPr/>
          <p:nvPr/>
        </p:nvSpPr>
        <p:spPr>
          <a:xfrm>
            <a:off x="365760" y="5212080"/>
            <a:ext cx="5486400"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5239512"/>
            <a:ext cx="5303520" cy="365760"/>
          </a:xfrm>
          <a:prstGeom prst="rect">
            <a:avLst/>
          </a:prstGeom>
          <a:noFill/>
        </p:spPr>
        <p:txBody>
          <a:bodyPr wrap="square">
            <a:spAutoFit/>
          </a:bodyPr>
          <a:lstStyle/>
          <a:p>
            <a:pPr algn="l"/>
            <a:r>
              <a:rPr sz="1000" b="0" i="1">
                <a:solidFill>
                  <a:srgbClr val="FFFFFF"/>
                </a:solidFill>
              </a:rPr>
              <a:t>Sierra de Guadalupe — Vista desde Coacalco</a:t>
            </a:r>
          </a:p>
        </p:txBody>
      </p:sp>
      <p:sp>
        <p:nvSpPr>
          <p:cNvPr id="9" name="Rectangle 8"/>
          <p:cNvSpPr/>
          <p:nvPr/>
        </p:nvSpPr>
        <p:spPr>
          <a:xfrm>
            <a:off x="6217920" y="1097280"/>
            <a:ext cx="5577840" cy="12344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188720"/>
            <a:ext cx="5212080" cy="457200"/>
          </a:xfrm>
          <a:prstGeom prst="rect">
            <a:avLst/>
          </a:prstGeom>
          <a:noFill/>
        </p:spPr>
        <p:txBody>
          <a:bodyPr wrap="square">
            <a:spAutoFit/>
          </a:bodyPr>
          <a:lstStyle/>
          <a:p>
            <a:pPr algn="l"/>
            <a:r>
              <a:rPr sz="1500" b="1" i="0">
                <a:solidFill>
                  <a:srgbClr val="FFFFFF"/>
                </a:solidFill>
              </a:rPr>
              <a:t>Matorral Xerófilo</a:t>
            </a:r>
          </a:p>
        </p:txBody>
      </p:sp>
      <p:sp>
        <p:nvSpPr>
          <p:cNvPr id="11" name="TextBox 10"/>
          <p:cNvSpPr txBox="1"/>
          <p:nvPr/>
        </p:nvSpPr>
        <p:spPr>
          <a:xfrm>
            <a:off x="6400800" y="1645919"/>
            <a:ext cx="5212080" cy="594360"/>
          </a:xfrm>
          <a:prstGeom prst="rect">
            <a:avLst/>
          </a:prstGeom>
          <a:noFill/>
        </p:spPr>
        <p:txBody>
          <a:bodyPr wrap="square">
            <a:spAutoFit/>
          </a:bodyPr>
          <a:lstStyle/>
          <a:p>
            <a:pPr algn="l"/>
            <a:r>
              <a:rPr sz="1300" b="0" i="0">
                <a:solidFill>
                  <a:srgbClr val="C8E6C9"/>
                </a:solidFill>
              </a:rPr>
              <a:t>Nopal · Biznaga · Maguey</a:t>
            </a:r>
          </a:p>
        </p:txBody>
      </p:sp>
      <p:sp>
        <p:nvSpPr>
          <p:cNvPr id="12" name="Rectangle 11"/>
          <p:cNvSpPr/>
          <p:nvPr/>
        </p:nvSpPr>
        <p:spPr>
          <a:xfrm>
            <a:off x="6217920" y="2468880"/>
            <a:ext cx="5577840" cy="12344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2560320"/>
            <a:ext cx="5212080" cy="457200"/>
          </a:xfrm>
          <a:prstGeom prst="rect">
            <a:avLst/>
          </a:prstGeom>
          <a:noFill/>
        </p:spPr>
        <p:txBody>
          <a:bodyPr wrap="square">
            <a:spAutoFit/>
          </a:bodyPr>
          <a:lstStyle/>
          <a:p>
            <a:pPr algn="l"/>
            <a:r>
              <a:rPr sz="1500" b="1" i="0">
                <a:solidFill>
                  <a:srgbClr val="FFFFFF"/>
                </a:solidFill>
              </a:rPr>
              <a:t>Árboles Nativos</a:t>
            </a:r>
          </a:p>
        </p:txBody>
      </p:sp>
      <p:sp>
        <p:nvSpPr>
          <p:cNvPr id="14" name="TextBox 13"/>
          <p:cNvSpPr txBox="1"/>
          <p:nvPr/>
        </p:nvSpPr>
        <p:spPr>
          <a:xfrm>
            <a:off x="6400800" y="3017520"/>
            <a:ext cx="5212080" cy="594360"/>
          </a:xfrm>
          <a:prstGeom prst="rect">
            <a:avLst/>
          </a:prstGeom>
          <a:noFill/>
        </p:spPr>
        <p:txBody>
          <a:bodyPr wrap="square">
            <a:spAutoFit/>
          </a:bodyPr>
          <a:lstStyle/>
          <a:p>
            <a:pPr algn="l"/>
            <a:r>
              <a:rPr sz="1300" b="0" i="0">
                <a:solidFill>
                  <a:srgbClr val="C8E6C9"/>
                </a:solidFill>
              </a:rPr>
              <a:t>Encino · Pino · Cedro Blanco</a:t>
            </a:r>
          </a:p>
        </p:txBody>
      </p:sp>
      <p:sp>
        <p:nvSpPr>
          <p:cNvPr id="15" name="Rectangle 14"/>
          <p:cNvSpPr/>
          <p:nvPr/>
        </p:nvSpPr>
        <p:spPr>
          <a:xfrm>
            <a:off x="6217920" y="3840480"/>
            <a:ext cx="5577840" cy="1234440"/>
          </a:xfrm>
          <a:prstGeom prst="rect">
            <a:avLst/>
          </a:prstGeom>
          <a:solidFill>
            <a:srgbClr val="0089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3931920"/>
            <a:ext cx="5212080" cy="457200"/>
          </a:xfrm>
          <a:prstGeom prst="rect">
            <a:avLst/>
          </a:prstGeom>
          <a:noFill/>
        </p:spPr>
        <p:txBody>
          <a:bodyPr wrap="square">
            <a:spAutoFit/>
          </a:bodyPr>
          <a:lstStyle/>
          <a:p>
            <a:pPr algn="l"/>
            <a:r>
              <a:rPr sz="1500" b="1" i="0">
                <a:solidFill>
                  <a:srgbClr val="FFFFFF"/>
                </a:solidFill>
              </a:rPr>
              <a:t>Reforestación</a:t>
            </a:r>
          </a:p>
        </p:txBody>
      </p:sp>
      <p:sp>
        <p:nvSpPr>
          <p:cNvPr id="17" name="TextBox 16"/>
          <p:cNvSpPr txBox="1"/>
          <p:nvPr/>
        </p:nvSpPr>
        <p:spPr>
          <a:xfrm>
            <a:off x="6400800" y="4389120"/>
            <a:ext cx="5212080" cy="594360"/>
          </a:xfrm>
          <a:prstGeom prst="rect">
            <a:avLst/>
          </a:prstGeom>
          <a:noFill/>
        </p:spPr>
        <p:txBody>
          <a:bodyPr wrap="square">
            <a:spAutoFit/>
          </a:bodyPr>
          <a:lstStyle/>
          <a:p>
            <a:pPr algn="l"/>
            <a:r>
              <a:rPr sz="1300" b="0" i="0">
                <a:solidFill>
                  <a:srgbClr val="C8E6C9"/>
                </a:solidFill>
              </a:rPr>
              <a:t>Jacaranda · Cedro (plantaciones)</a:t>
            </a:r>
          </a:p>
        </p:txBody>
      </p:sp>
      <p:sp>
        <p:nvSpPr>
          <p:cNvPr id="18" name="Rectangle 17"/>
          <p:cNvSpPr/>
          <p:nvPr/>
        </p:nvSpPr>
        <p:spPr>
          <a:xfrm>
            <a:off x="6217920" y="5074920"/>
            <a:ext cx="557784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5166360"/>
            <a:ext cx="5303520" cy="1188720"/>
          </a:xfrm>
          <a:prstGeom prst="rect">
            <a:avLst/>
          </a:prstGeom>
          <a:noFill/>
        </p:spPr>
        <p:txBody>
          <a:bodyPr wrap="square">
            <a:spAutoFit/>
          </a:bodyPr>
          <a:lstStyle/>
          <a:p>
            <a:pPr algn="l"/>
            <a:r>
              <a:rPr sz="1200" b="0" i="1">
                <a:solidFill>
                  <a:srgbClr val="212121"/>
                </a:solidFill>
              </a:rPr>
              <a:t>La vegetación predominante es el matorral xerófilo, adaptado a las condiciones áridas del entorno. Los encinos son los árboles más representativos del ecosistema original.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278" y="695016"/>
            <a:ext cx="3448885" cy="6032355"/>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4826" y="696799"/>
            <a:ext cx="3460689" cy="6030572"/>
          </a:xfrm>
          <a:prstGeom prst="rect">
            <a:avLst/>
          </a:prstGeom>
        </p:spPr>
      </p:pic>
    </p:spTree>
    <p:extLst>
      <p:ext uri="{BB962C8B-B14F-4D97-AF65-F5344CB8AC3E}">
        <p14:creationId xmlns:p14="http://schemas.microsoft.com/office/powerpoint/2010/main" val="3891638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3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37160"/>
            <a:ext cx="10972800" cy="731520"/>
          </a:xfrm>
          <a:prstGeom prst="rect">
            <a:avLst/>
          </a:prstGeom>
          <a:noFill/>
        </p:spPr>
        <p:txBody>
          <a:bodyPr wrap="square">
            <a:spAutoFit/>
          </a:bodyPr>
          <a:lstStyle/>
          <a:p>
            <a:pPr algn="l"/>
            <a:r>
              <a:rPr sz="2600" b="1" i="0">
                <a:solidFill>
                  <a:srgbClr val="FFFFFF"/>
                </a:solidFill>
              </a:rPr>
              <a:t>CAUSAS DE LA PROBLEMÁTICA AMBIENTAL</a:t>
            </a:r>
          </a:p>
        </p:txBody>
      </p:sp>
      <p:sp>
        <p:nvSpPr>
          <p:cNvPr id="5" name="Rectangle 4"/>
          <p:cNvSpPr/>
          <p:nvPr/>
        </p:nvSpPr>
        <p:spPr>
          <a:xfrm>
            <a:off x="320040" y="1143000"/>
            <a:ext cx="2834640" cy="5257800"/>
          </a:xfrm>
          <a:prstGeom prst="rect">
            <a:avLst/>
          </a:prstGeom>
          <a:solidFill>
            <a:srgbClr val="2C3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143000"/>
            <a:ext cx="2834640" cy="457200"/>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79" y="1170432"/>
            <a:ext cx="457200" cy="402336"/>
          </a:xfrm>
          <a:prstGeom prst="rect">
            <a:avLst/>
          </a:prstGeom>
          <a:noFill/>
        </p:spPr>
        <p:txBody>
          <a:bodyPr wrap="square">
            <a:spAutoFit/>
          </a:bodyPr>
          <a:lstStyle/>
          <a:p>
            <a:pPr algn="l"/>
            <a:r>
              <a:rPr sz="1800" b="1" i="0">
                <a:solidFill>
                  <a:srgbClr val="FFFFFF"/>
                </a:solidFill>
              </a:rPr>
              <a:t>01</a:t>
            </a:r>
          </a:p>
        </p:txBody>
      </p:sp>
      <p:sp>
        <p:nvSpPr>
          <p:cNvPr id="8" name="TextBox 7"/>
          <p:cNvSpPr txBox="1"/>
          <p:nvPr/>
        </p:nvSpPr>
        <p:spPr>
          <a:xfrm>
            <a:off x="457200" y="1737360"/>
            <a:ext cx="2560320" cy="822960"/>
          </a:xfrm>
          <a:prstGeom prst="rect">
            <a:avLst/>
          </a:prstGeom>
          <a:noFill/>
        </p:spPr>
        <p:txBody>
          <a:bodyPr wrap="square">
            <a:spAutoFit/>
          </a:bodyPr>
          <a:lstStyle/>
          <a:p>
            <a:pPr algn="l"/>
            <a:r>
              <a:rPr sz="1600" b="1" i="0">
                <a:solidFill>
                  <a:srgbClr val="E53935"/>
                </a:solidFill>
              </a:rPr>
              <a:t>Crecimiento
Urbano</a:t>
            </a:r>
          </a:p>
        </p:txBody>
      </p:sp>
      <p:sp>
        <p:nvSpPr>
          <p:cNvPr id="9" name="TextBox 8"/>
          <p:cNvSpPr txBox="1"/>
          <p:nvPr/>
        </p:nvSpPr>
        <p:spPr>
          <a:xfrm>
            <a:off x="457200" y="2743200"/>
            <a:ext cx="2560320" cy="3474720"/>
          </a:xfrm>
          <a:prstGeom prst="rect">
            <a:avLst/>
          </a:prstGeom>
          <a:noFill/>
        </p:spPr>
        <p:txBody>
          <a:bodyPr wrap="square">
            <a:spAutoFit/>
          </a:bodyPr>
          <a:lstStyle/>
          <a:p>
            <a:pPr algn="l"/>
            <a:r>
              <a:rPr sz="1200" b="0" i="0">
                <a:solidFill>
                  <a:srgbClr val="CCCCCC"/>
                </a:solidFill>
              </a:rPr>
              <a:t>Construcción de fraccionamientos en zonas de cerro y pastizales, fragmentando hábitats naturales.</a:t>
            </a:r>
          </a:p>
        </p:txBody>
      </p:sp>
      <p:sp>
        <p:nvSpPr>
          <p:cNvPr id="10" name="Rectangle 9"/>
          <p:cNvSpPr/>
          <p:nvPr/>
        </p:nvSpPr>
        <p:spPr>
          <a:xfrm>
            <a:off x="3291840" y="1143000"/>
            <a:ext cx="2834640" cy="5257800"/>
          </a:xfrm>
          <a:prstGeom prst="rect">
            <a:avLst/>
          </a:prstGeom>
          <a:solidFill>
            <a:srgbClr val="2C3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91840" y="1143000"/>
            <a:ext cx="2834640" cy="4572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83280" y="1170432"/>
            <a:ext cx="457200" cy="402336"/>
          </a:xfrm>
          <a:prstGeom prst="rect">
            <a:avLst/>
          </a:prstGeom>
          <a:noFill/>
        </p:spPr>
        <p:txBody>
          <a:bodyPr wrap="square">
            <a:spAutoFit/>
          </a:bodyPr>
          <a:lstStyle/>
          <a:p>
            <a:pPr algn="l"/>
            <a:r>
              <a:rPr sz="1800" b="1" i="0">
                <a:solidFill>
                  <a:srgbClr val="FFFFFF"/>
                </a:solidFill>
              </a:rPr>
              <a:t>02</a:t>
            </a:r>
          </a:p>
        </p:txBody>
      </p:sp>
      <p:sp>
        <p:nvSpPr>
          <p:cNvPr id="13" name="TextBox 12"/>
          <p:cNvSpPr txBox="1"/>
          <p:nvPr/>
        </p:nvSpPr>
        <p:spPr>
          <a:xfrm>
            <a:off x="3429000" y="1737360"/>
            <a:ext cx="2560320" cy="822960"/>
          </a:xfrm>
          <a:prstGeom prst="rect">
            <a:avLst/>
          </a:prstGeom>
          <a:noFill/>
        </p:spPr>
        <p:txBody>
          <a:bodyPr wrap="square">
            <a:spAutoFit/>
          </a:bodyPr>
          <a:lstStyle/>
          <a:p>
            <a:pPr algn="l"/>
            <a:r>
              <a:rPr sz="1600" b="1" i="0">
                <a:solidFill>
                  <a:srgbClr val="6A1B9A"/>
                </a:solidFill>
              </a:rPr>
              <a:t>Contaminación
Ambiental</a:t>
            </a:r>
          </a:p>
        </p:txBody>
      </p:sp>
      <p:sp>
        <p:nvSpPr>
          <p:cNvPr id="14" name="TextBox 13"/>
          <p:cNvSpPr txBox="1"/>
          <p:nvPr/>
        </p:nvSpPr>
        <p:spPr>
          <a:xfrm>
            <a:off x="3429000" y="2743200"/>
            <a:ext cx="2560320" cy="3474720"/>
          </a:xfrm>
          <a:prstGeom prst="rect">
            <a:avLst/>
          </a:prstGeom>
          <a:noFill/>
        </p:spPr>
        <p:txBody>
          <a:bodyPr wrap="square">
            <a:spAutoFit/>
          </a:bodyPr>
          <a:lstStyle/>
          <a:p>
            <a:pPr algn="l"/>
            <a:r>
              <a:rPr sz="1200" b="0" i="0">
                <a:solidFill>
                  <a:srgbClr val="CCCCCC"/>
                </a:solidFill>
              </a:rPr>
              <a:t>Basura y descargas industriales en barrancas y el Gran Canal. PM2.5 a 3.6x el límite OMS.</a:t>
            </a:r>
          </a:p>
        </p:txBody>
      </p:sp>
      <p:sp>
        <p:nvSpPr>
          <p:cNvPr id="15" name="Rectangle 14"/>
          <p:cNvSpPr/>
          <p:nvPr/>
        </p:nvSpPr>
        <p:spPr>
          <a:xfrm>
            <a:off x="6263640" y="1143000"/>
            <a:ext cx="2834640" cy="5257800"/>
          </a:xfrm>
          <a:prstGeom prst="rect">
            <a:avLst/>
          </a:prstGeom>
          <a:solidFill>
            <a:srgbClr val="2C3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143000"/>
            <a:ext cx="2834640" cy="4572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79" y="1170432"/>
            <a:ext cx="457200" cy="402336"/>
          </a:xfrm>
          <a:prstGeom prst="rect">
            <a:avLst/>
          </a:prstGeom>
          <a:noFill/>
        </p:spPr>
        <p:txBody>
          <a:bodyPr wrap="square">
            <a:spAutoFit/>
          </a:bodyPr>
          <a:lstStyle/>
          <a:p>
            <a:pPr algn="l"/>
            <a:r>
              <a:rPr sz="1800" b="1" i="0">
                <a:solidFill>
                  <a:srgbClr val="FFFFFF"/>
                </a:solidFill>
              </a:rPr>
              <a:t>03</a:t>
            </a:r>
          </a:p>
        </p:txBody>
      </p:sp>
      <p:sp>
        <p:nvSpPr>
          <p:cNvPr id="18" name="TextBox 17"/>
          <p:cNvSpPr txBox="1"/>
          <p:nvPr/>
        </p:nvSpPr>
        <p:spPr>
          <a:xfrm>
            <a:off x="6400800" y="1737360"/>
            <a:ext cx="2560320" cy="822960"/>
          </a:xfrm>
          <a:prstGeom prst="rect">
            <a:avLst/>
          </a:prstGeom>
          <a:noFill/>
        </p:spPr>
        <p:txBody>
          <a:bodyPr wrap="square">
            <a:spAutoFit/>
          </a:bodyPr>
          <a:lstStyle/>
          <a:p>
            <a:pPr algn="l"/>
            <a:r>
              <a:rPr sz="1600" b="1" i="0">
                <a:solidFill>
                  <a:srgbClr val="2E7D32"/>
                </a:solidFill>
              </a:rPr>
              <a:t>Deforestación
Ilegal</a:t>
            </a:r>
          </a:p>
        </p:txBody>
      </p:sp>
      <p:sp>
        <p:nvSpPr>
          <p:cNvPr id="19" name="TextBox 18"/>
          <p:cNvSpPr txBox="1"/>
          <p:nvPr/>
        </p:nvSpPr>
        <p:spPr>
          <a:xfrm>
            <a:off x="6400800" y="2743200"/>
            <a:ext cx="2560320" cy="3474720"/>
          </a:xfrm>
          <a:prstGeom prst="rect">
            <a:avLst/>
          </a:prstGeom>
          <a:noFill/>
        </p:spPr>
        <p:txBody>
          <a:bodyPr wrap="square">
            <a:spAutoFit/>
          </a:bodyPr>
          <a:lstStyle/>
          <a:p>
            <a:pPr algn="l"/>
            <a:r>
              <a:rPr sz="1200" b="0" i="0">
                <a:solidFill>
                  <a:srgbClr val="CCCCCC"/>
                </a:solidFill>
              </a:rPr>
              <a:t>Tala de árboles en Sierra de Guadalupe para asentamientos y obras sin permiso ambiental.</a:t>
            </a:r>
          </a:p>
        </p:txBody>
      </p:sp>
      <p:sp>
        <p:nvSpPr>
          <p:cNvPr id="20" name="Rectangle 19"/>
          <p:cNvSpPr/>
          <p:nvPr/>
        </p:nvSpPr>
        <p:spPr>
          <a:xfrm>
            <a:off x="9235440" y="1143000"/>
            <a:ext cx="2834640" cy="5257800"/>
          </a:xfrm>
          <a:prstGeom prst="rect">
            <a:avLst/>
          </a:prstGeom>
          <a:solidFill>
            <a:srgbClr val="2C3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235440" y="1143000"/>
            <a:ext cx="2834640" cy="4572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0" y="1170432"/>
            <a:ext cx="457200" cy="402336"/>
          </a:xfrm>
          <a:prstGeom prst="rect">
            <a:avLst/>
          </a:prstGeom>
          <a:noFill/>
        </p:spPr>
        <p:txBody>
          <a:bodyPr wrap="square">
            <a:spAutoFit/>
          </a:bodyPr>
          <a:lstStyle/>
          <a:p>
            <a:pPr algn="l"/>
            <a:r>
              <a:rPr sz="1800" b="1" i="0">
                <a:solidFill>
                  <a:srgbClr val="FFFFFF"/>
                </a:solidFill>
              </a:rPr>
              <a:t>04</a:t>
            </a:r>
          </a:p>
        </p:txBody>
      </p:sp>
      <p:sp>
        <p:nvSpPr>
          <p:cNvPr id="23" name="TextBox 22"/>
          <p:cNvSpPr txBox="1"/>
          <p:nvPr/>
        </p:nvSpPr>
        <p:spPr>
          <a:xfrm>
            <a:off x="9372600" y="1737360"/>
            <a:ext cx="2560320" cy="822960"/>
          </a:xfrm>
          <a:prstGeom prst="rect">
            <a:avLst/>
          </a:prstGeom>
          <a:noFill/>
        </p:spPr>
        <p:txBody>
          <a:bodyPr wrap="square">
            <a:spAutoFit/>
          </a:bodyPr>
          <a:lstStyle/>
          <a:p>
            <a:pPr algn="l"/>
            <a:r>
              <a:rPr sz="1600" b="1" i="0">
                <a:solidFill>
                  <a:srgbClr val="E65100"/>
                </a:solidFill>
              </a:rPr>
              <a:t>Tráfico
de Fauna</a:t>
            </a:r>
          </a:p>
        </p:txBody>
      </p:sp>
      <p:sp>
        <p:nvSpPr>
          <p:cNvPr id="24" name="TextBox 23"/>
          <p:cNvSpPr txBox="1"/>
          <p:nvPr/>
        </p:nvSpPr>
        <p:spPr>
          <a:xfrm>
            <a:off x="9372600" y="2743200"/>
            <a:ext cx="2560320" cy="3474720"/>
          </a:xfrm>
          <a:prstGeom prst="rect">
            <a:avLst/>
          </a:prstGeom>
          <a:noFill/>
        </p:spPr>
        <p:txBody>
          <a:bodyPr wrap="square">
            <a:spAutoFit/>
          </a:bodyPr>
          <a:lstStyle/>
          <a:p>
            <a:pPr algn="l"/>
            <a:r>
              <a:rPr sz="1200" b="0" i="0">
                <a:solidFill>
                  <a:srgbClr val="CCCCCC"/>
                </a:solidFill>
              </a:rPr>
              <a:t>Captura ilegal de aves y pequeños mamíferos para venta en mercados clandestinos.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3.jpg"/>
          <p:cNvPicPr>
            <a:picLocks noChangeAspect="1"/>
          </p:cNvPicPr>
          <p:nvPr/>
        </p:nvPicPr>
        <p:blipFill>
          <a:blip r:embed="rId2"/>
          <a:stretch>
            <a:fillRect/>
          </a:stretch>
        </p:blipFill>
        <p:spPr>
          <a:xfrm>
            <a:off x="0" y="0"/>
            <a:ext cx="12188952" cy="6858000"/>
          </a:xfrm>
          <a:prstGeom prst="rect">
            <a:avLst/>
          </a:prstGeom>
        </p:spPr>
      </p:pic>
      <p:sp>
        <p:nvSpPr>
          <p:cNvPr id="4" name="Rectangle 3"/>
          <p:cNvSpPr/>
          <p:nvPr/>
        </p:nvSpPr>
        <p:spPr>
          <a:xfrm>
            <a:off x="0" y="0"/>
            <a:ext cx="12188952"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828800" y="1097280"/>
            <a:ext cx="8531352"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0" y="1097280"/>
            <a:ext cx="8531352" cy="137160"/>
          </a:xfrm>
          <a:prstGeom prst="rect">
            <a:avLst/>
          </a:prstGeom>
          <a:solidFill>
            <a:srgbClr val="81C7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28800" y="5623560"/>
            <a:ext cx="8531352" cy="137160"/>
          </a:xfrm>
          <a:prstGeom prst="rect">
            <a:avLst/>
          </a:prstGeom>
          <a:solidFill>
            <a:srgbClr val="81C7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0" y="1234440"/>
            <a:ext cx="8229600" cy="685800"/>
          </a:xfrm>
          <a:prstGeom prst="rect">
            <a:avLst/>
          </a:prstGeom>
          <a:noFill/>
        </p:spPr>
        <p:txBody>
          <a:bodyPr wrap="square">
            <a:spAutoFit/>
          </a:bodyPr>
          <a:lstStyle/>
          <a:p>
            <a:pPr algn="ctr"/>
            <a:r>
              <a:rPr sz="2800" b="1" i="0">
                <a:solidFill>
                  <a:srgbClr val="1B5E20"/>
                </a:solidFill>
              </a:rPr>
              <a:t>CONCLUSIÓN</a:t>
            </a:r>
          </a:p>
        </p:txBody>
      </p:sp>
      <p:sp>
        <p:nvSpPr>
          <p:cNvPr id="9" name="TextBox 8"/>
          <p:cNvSpPr txBox="1"/>
          <p:nvPr/>
        </p:nvSpPr>
        <p:spPr>
          <a:xfrm>
            <a:off x="2103120" y="2011680"/>
            <a:ext cx="8046720" cy="1371600"/>
          </a:xfrm>
          <a:prstGeom prst="rect">
            <a:avLst/>
          </a:prstGeom>
          <a:noFill/>
        </p:spPr>
        <p:txBody>
          <a:bodyPr wrap="square">
            <a:spAutoFit/>
          </a:bodyPr>
          <a:lstStyle/>
          <a:p>
            <a:pPr algn="ctr"/>
            <a:r>
              <a:rPr sz="1400" b="0" i="0">
                <a:solidFill>
                  <a:srgbClr val="212121"/>
                </a:solidFill>
              </a:rPr>
              <a:t>Coacalco de Berriozábal enfrenta una crisis ambiental multidimensional: la Sierra de Guadalupe, hogar de más de 680 especies entre flora y fauna, está amenazada por la urbanización descontrolada, la tala ilegal y la contaminación severa del aire y el agua.</a:t>
            </a:r>
          </a:p>
        </p:txBody>
      </p:sp>
      <p:sp>
        <p:nvSpPr>
          <p:cNvPr id="10" name="TextBox 9"/>
          <p:cNvSpPr txBox="1"/>
          <p:nvPr/>
        </p:nvSpPr>
        <p:spPr>
          <a:xfrm>
            <a:off x="2103120" y="3474720"/>
            <a:ext cx="8046720" cy="1280160"/>
          </a:xfrm>
          <a:prstGeom prst="rect">
            <a:avLst/>
          </a:prstGeom>
          <a:noFill/>
        </p:spPr>
        <p:txBody>
          <a:bodyPr wrap="square">
            <a:spAutoFit/>
          </a:bodyPr>
          <a:lstStyle/>
          <a:p>
            <a:pPr algn="ctr"/>
            <a:r>
              <a:rPr sz="1400" b="0" i="0">
                <a:solidFill>
                  <a:srgbClr val="212121"/>
                </a:solidFill>
              </a:rPr>
              <a:t>La acción ciudadana, el respeto a la legislación ambiental y la conservación activa de las áreas protegidas son fundamentales para preservar la biodiversidad y la calidad de vida de los habitantes del municipio.</a:t>
            </a:r>
          </a:p>
        </p:txBody>
      </p:sp>
      <p:sp>
        <p:nvSpPr>
          <p:cNvPr id="11" name="Rectangle 10"/>
          <p:cNvSpPr/>
          <p:nvPr/>
        </p:nvSpPr>
        <p:spPr>
          <a:xfrm>
            <a:off x="3200400" y="4846320"/>
            <a:ext cx="5788152" cy="5486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0" y="4873752"/>
            <a:ext cx="5788152" cy="502920"/>
          </a:xfrm>
          <a:prstGeom prst="rect">
            <a:avLst/>
          </a:prstGeom>
          <a:noFill/>
        </p:spPr>
        <p:txBody>
          <a:bodyPr wrap="square">
            <a:spAutoFit/>
          </a:bodyPr>
          <a:lstStyle/>
          <a:p>
            <a:pPr algn="ctr"/>
            <a:r>
              <a:rPr sz="1300" b="1" i="0">
                <a:solidFill>
                  <a:srgbClr val="FFFFFF"/>
                </a:solidFill>
              </a:rPr>
              <a:t>🌿  ¡La naturaleza de Coacalco necesita nuestra protección!</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33</TotalTime>
  <Words>533</Words>
  <Application>Microsoft Office PowerPoint</Application>
  <PresentationFormat>Personalizado</PresentationFormat>
  <Paragraphs>69</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PC-06</dc:creator>
  <cp:keywords/>
  <dc:description>generated using python-pptx</dc:description>
  <cp:lastModifiedBy>PC-06</cp:lastModifiedBy>
  <cp:revision>4</cp:revision>
  <dcterms:created xsi:type="dcterms:W3CDTF">2013-01-27T09:14:16Z</dcterms:created>
  <dcterms:modified xsi:type="dcterms:W3CDTF">2026-04-30T01:10:17Z</dcterms:modified>
  <cp:category/>
</cp:coreProperties>
</file>